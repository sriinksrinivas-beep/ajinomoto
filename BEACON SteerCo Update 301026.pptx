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2" r:id="rId3"/>
    <p:sldId id="257" r:id="rId4"/>
    <p:sldId id="263" r:id="rId5"/>
    <p:sldId id="259" r:id="rId6"/>
    <p:sldId id="258" r:id="rId7"/>
    <p:sldId id="260" r:id="rId8"/>
    <p:sldId id="264" r:id="rId9"/>
    <p:sldId id="261" r:id="rId10"/>
    <p:sldId id="265" r:id="rId11"/>
  </p:sldIdLst>
  <p:sldSz cx="12192000" cy="6858000"/>
  <p:notesSz cx="6858000" cy="12192000"/>
  <p:embeddedFontLst>
    <p:embeddedFont>
      <p:font typeface="Caladea" panose="020B0604020202020204" charset="0"/>
      <p:regular r:id="rId13"/>
      <p:bold r:id="rId14"/>
    </p:embeddedFont>
    <p:embeddedFont>
      <p:font typeface="Public Sans" panose="020B060402020202020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128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context. This is the first steering committee update, after one week of discovery (26–29 October). Logo placeholders on the top corners are for the Ajinomoto and Durvah IT Consulting logos. BEACON stands for Business Excellence through Automation, Collaboration, Optimization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66EC-AAED-1758-AAD7-BD031496F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7B989F-F1CE-C143-29F5-F7123163F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A651A-0FBF-BF7D-D846-7D1D3190BEFD}"/>
              </a:ext>
            </a:extLst>
          </p:cNvPr>
          <p:cNvSpPr>
            <a:spLocks noGrp="1"/>
          </p:cNvSpPr>
          <p:nvPr>
            <p:ph type="body" idx="1"/>
          </p:nvPr>
        </p:nvSpPr>
        <p:spPr/>
        <p:txBody>
          <a:bodyPr/>
          <a:lstStyle/>
          <a:p>
            <a:r>
              <a:rPr lang="en-US" dirty="0"/>
              <a:t>Counts come from the SIMS detailed item requirements workbook (10 sections, 87 feature lines: 53 internal, 34 supplier-facing) and the seven workshop documents. The two KPI documents are the same session and are counted once. Requirements: 24 (onboarding) + 20 (planning, PR-PO, ASN, GR) + 16 (invoicing, budget, DOA, performance) + 16 (QC and LIMS) + 18 (allocation and delivery) + 18 (KPIs) + 14 (IT integration) = 126. The Day 1 minutes record 23 onboarding requirements; the detailed note lists 24. Departments: Procurement, Supply Planning (SPLD), Finance, QA (QAD), R&amp;D (RDD), QC (APF), IT (ITD) and the Beacon PMO; the warehouse and the LIMS project team also took part. Stakeholder count is a minimum, taken from the charter team list and workshop attendees. Technologies: SAP S/4HANA, Jedox, Infor WMS, LIMS, DataSpider, SAP Concur, Zoho Sign, Microsoft Entra ID SSO, Power BI, Azure analytics stack, HTMS portal, Citi Bank, ESS HRIS, QAD, contract repository, and Excel/email/Viber.</a:t>
            </a:r>
          </a:p>
        </p:txBody>
      </p:sp>
      <p:sp>
        <p:nvSpPr>
          <p:cNvPr id="4" name="Slide Number Placeholder 3">
            <a:extLst>
              <a:ext uri="{FF2B5EF4-FFF2-40B4-BE49-F238E27FC236}">
                <a16:creationId xmlns:a16="http://schemas.microsoft.com/office/drawing/2014/main" id="{4310A968-8FDF-95A6-4FB9-0CDCED8029E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24454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come from the SIMS detailed item requirements workbook (10 sections, 87 feature lines: 53 internal, 34 supplier-facing) and the seven workshop documents. The two KPI documents are the same session and are counted once. Requirements: 24 (onboarding) + 20 (planning, PR-PO, ASN, GR) + 16 (invoicing, budget, DOA, performance) + 16 (QC and LIMS) + 18 (allocation and delivery) + 18 (KPIs) + 14 (IT integration) = 126. The Day 1 minutes record 23 onboarding requirements; the detailed note lists 24. Departments: Procurement, Supply Planning (SPLD), Finance, QA (QAD), R&amp;D (RDD), QC (APF), IT (ITD) and the Beacon PMO; the warehouse and the LIMS project team also took part. Stakeholder count is a minimum, taken from the charter team list and workshop attendees. Technologies: SAP S/4HANA, Jedox, Infor WMS, LIMS, DataSpider, SAP Concur, Zoho Sign, Microsoft Entra ID SSO, Power BI, Azure analytics stack, HTMS portal, Citi Bank, ESS HRIS, QAD, contract repository, and Excel/email/Viber.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626C5-822D-5D41-FA5A-15B2A7657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D9005-7A4B-84AC-3B57-BA51C812C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7C9DA-B435-122B-9C6F-740E70051617}"/>
              </a:ext>
            </a:extLst>
          </p:cNvPr>
          <p:cNvSpPr>
            <a:spLocks noGrp="1"/>
          </p:cNvSpPr>
          <p:nvPr>
            <p:ph type="body" idx="1"/>
          </p:nvPr>
        </p:nvSpPr>
        <p:spPr/>
        <p:txBody>
          <a:bodyPr/>
          <a:lstStyle/>
          <a:p>
            <a:r>
              <a:rPr lang="en-US" dirty="0"/>
              <a:t>Source: SIMS Detailed Item Requirements workbook. Each domain lists internal (APC user) features and supplier-facing (portal) features. Internal: 7+10+4+6+3+6+6+3+4+4 = 53. Supplier-facing: 5+6+2+1+2+3+5+4+4+2 = 34. Total 87 itemised features across the 10 sections of the workbook (the 8 RFP functional areas, plus Integration Capabilities and Security and Accessibility).</a:t>
            </a:r>
          </a:p>
        </p:txBody>
      </p:sp>
      <p:sp>
        <p:nvSpPr>
          <p:cNvPr id="4" name="Slide Number Placeholder 3">
            <a:extLst>
              <a:ext uri="{FF2B5EF4-FFF2-40B4-BE49-F238E27FC236}">
                <a16:creationId xmlns:a16="http://schemas.microsoft.com/office/drawing/2014/main" id="{291F2AEB-61A0-AD56-F5DB-891DA26F8AC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6096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SIMS Detailed Item Requirements workbook. Each domain lists internal (APC user) features and supplier-facing (portal) features. Internal: 7+10+4+6+3+6+6+3+4+4 = 53. Supplier-facing: 5+6+2+1+2+3+5+4+4+2 = 34. Total 87 itemised features across the 10 sections of the workbook (the 8 RFP functional areas, plus Integration Capabilities and Security and Accessibility).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Process and Technology are the three lenses for requirements validation now and for vendor scoring later. We suggest three additions to the scoring framework: the licence model and total cost of ownership (APC flagged hidden per-user charges on Day 1), data residency and AI control (raised in the allocation and IT sessions), and fit-to-standard versus customisation (agreed principle in the planning session). User count of about 10 is procurement (about 4), QA/QC (about 5) and one shared R&amp;D user, still to be confirmed by APC.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gist, not the full gap list; 78 pain points are logged across the seven sessions. Evidence: SAP is used mainly for financial postings and there is no production planning module or BOM in SAP (planning session); Jedox vendor allocation exists but is not active; MRP parameters, forecasts and the production plan are uploaded from Excel; PRs and POs, including vendor splits and prices, are keyed by hand; consumption and finished-goods receipts post with custom movement types (Z05, Z01) and no production order; returns post as stock adjustments (Z19/Z20) instead of standard return to vendor (122) against the PO; delivery revisions go to suppliers by email from the vendor commitment file and SAP PO dates are not amended.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5E1B-EC5C-7095-EAA3-83D837199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1B005-4506-0F42-933E-D13CEE95A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CD7AA-6F4A-405A-42F9-FE18A0C64F55}"/>
              </a:ext>
            </a:extLst>
          </p:cNvPr>
          <p:cNvSpPr>
            <a:spLocks noGrp="1"/>
          </p:cNvSpPr>
          <p:nvPr>
            <p:ph type="body" idx="1"/>
          </p:nvPr>
        </p:nvSpPr>
        <p:spPr/>
        <p:txBody>
          <a:bodyPr/>
          <a:lstStyle/>
          <a:p>
            <a:r>
              <a:rPr lang="en-US" dirty="0"/>
              <a:t>This is a gist, not the full gap list; 78 pain points are logged across the seven sessions. Evidence: SAP is used mainly for financial postings and there is no production planning module or BOM in SAP (planning session); Jedox vendor allocation exists but is not active; MRP parameters, forecasts and the production plan are uploaded from Excel; PRs and POs, including vendor splits and prices, are keyed by hand; consumption and finished-goods receipts post with custom movement types (Z05, Z01) and no production order; returns post as stock adjustments (Z19/Z20) instead of standard return to vendor (122) against the PO; delivery revisions go to suppliers by email from the vendor commitment file and SAP PO dates are not amended.</a:t>
            </a:r>
          </a:p>
        </p:txBody>
      </p:sp>
      <p:sp>
        <p:nvSpPr>
          <p:cNvPr id="4" name="Slide Number Placeholder 3">
            <a:extLst>
              <a:ext uri="{FF2B5EF4-FFF2-40B4-BE49-F238E27FC236}">
                <a16:creationId xmlns:a16="http://schemas.microsoft.com/office/drawing/2014/main" id="{4A183292-43BD-F68B-7688-90C95AB0120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76841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follow the project charter v2.0 (16 Oct 2026). The next step is a detailed study of the process documents and templates shared by APC users, then drafting the conceptual design in collaboration with them. Phase 3 plans demos of up to five platforms (for example Ivalua, Zycus and SAP Ariba, plus others to be shortlisted with APC). The Durvah playback of our Week 1 understanding takes place on 30 Oct.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CFD5-6A6B-4831-4CCF-7EAD486DA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2DB0B-7566-2791-E1E8-2B86D63D7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E8F9F-9D31-3D25-E3EB-1D49CBCBC262}"/>
              </a:ext>
            </a:extLst>
          </p:cNvPr>
          <p:cNvSpPr>
            <a:spLocks noGrp="1"/>
          </p:cNvSpPr>
          <p:nvPr>
            <p:ph type="body" idx="1"/>
          </p:nvPr>
        </p:nvSpPr>
        <p:spPr/>
        <p:txBody>
          <a:bodyPr/>
          <a:lstStyle/>
          <a:p>
            <a:r>
              <a:rPr lang="en-US" dirty="0"/>
              <a:t>Dates follow the project charter v2.0 (16 Oct 2026). The next step is a detailed study of the process documents and templates shared by APC users, then drafting the conceptual design in collaboration with them. Phase 3 plans demos of up to five platforms (for example Ivalua, Zycus and SAP Ariba, plus others to be shortlisted with APC). The Durvah playback of our Week 1 understanding takes place on 30 Oct.</a:t>
            </a:r>
          </a:p>
        </p:txBody>
      </p:sp>
      <p:sp>
        <p:nvSpPr>
          <p:cNvPr id="4" name="Slide Number Placeholder 3">
            <a:extLst>
              <a:ext uri="{FF2B5EF4-FFF2-40B4-BE49-F238E27FC236}">
                <a16:creationId xmlns:a16="http://schemas.microsoft.com/office/drawing/2014/main" id="{CDB50897-EE6F-3EBF-44D4-5E6837C6F97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68426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8920"/>
            <a:ext cx="7302500" cy="391120"/>
          </a:xfrm>
          <a:prstGeom prst="rect">
            <a:avLst/>
          </a:prstGeom>
          <a:noFill/>
          <a:ln/>
        </p:spPr>
        <p:txBody>
          <a:bodyPr wrap="square" lIns="0" tIns="0" rIns="0" bIns="0" rtlCol="0" anchor="t"/>
          <a:lstStyle>
            <a:lvl1pPr marL="0" indent="0" algn="l">
              <a:lnSpc>
                <a:spcPct val="115000"/>
              </a:lnSpc>
              <a:buNone/>
              <a:defRPr lang="en-US" sz="2800" dirty="0">
                <a:solidFill>
                  <a:srgbClr val="0B2E6B"/>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609600" y="1264841"/>
            <a:ext cx="10769600" cy="4780359"/>
          </a:xfrm>
          <a:prstGeom prst="rect">
            <a:avLst/>
          </a:prstGeom>
          <a:noFill/>
          <a:ln/>
        </p:spPr>
        <p:txBody>
          <a:bodyPr wrap="square" lIns="0" tIns="0" rIns="0" bIns="0" rtlCol="0" anchor="t"/>
          <a:lstStyle>
            <a:lvl1pPr marL="0" indent="0" algn="l">
              <a:lnSpc>
                <a:spcPct val="140000"/>
              </a:lnSpc>
              <a:buNone/>
              <a:defRPr lang="en-US" sz="1600" dirty="0">
                <a:solidFill>
                  <a:srgbClr val="0B2E6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8920"/>
            <a:ext cx="7302500" cy="391120"/>
          </a:xfrm>
          <a:prstGeom prst="rect">
            <a:avLst/>
          </a:prstGeom>
          <a:noFill/>
          <a:ln/>
        </p:spPr>
        <p:txBody>
          <a:bodyPr wrap="square" lIns="0" tIns="0" rIns="0" bIns="0" rtlCol="0" anchor="t"/>
          <a:lstStyle>
            <a:lvl1pPr marL="0" indent="0" algn="l">
              <a:lnSpc>
                <a:spcPct val="115000"/>
              </a:lnSpc>
              <a:buNone/>
              <a:defRPr lang="en-US" sz="2800" dirty="0">
                <a:solidFill>
                  <a:srgbClr val="0B2E6B"/>
                </a:solidFill>
                <a:latin typeface="Public Sans" pitchFamily="34" charset="0"/>
                <a:ea typeface="Public Sans" pitchFamily="34" charset="-122"/>
                <a:cs typeface="Public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609600" y="1264841"/>
            <a:ext cx="10769600" cy="4780359"/>
          </a:xfrm>
          <a:prstGeom prst="rect">
            <a:avLst/>
          </a:prstGeom>
          <a:noFill/>
          <a:ln/>
        </p:spPr>
        <p:txBody>
          <a:bodyPr wrap="square" lIns="0" tIns="0" rIns="0" bIns="0" rtlCol="0" anchor="t"/>
          <a:lstStyle>
            <a:lvl1pPr marL="0" indent="0" algn="l">
              <a:lnSpc>
                <a:spcPct val="140000"/>
              </a:lnSpc>
              <a:buNone/>
              <a:defRPr lang="en-US" sz="1600" dirty="0">
                <a:solidFill>
                  <a:srgbClr val="0B2E6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3.jp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6B"/>
        </a:solidFill>
        <a:effectLst/>
      </p:bgPr>
    </p:bg>
    <p:spTree>
      <p:nvGrpSpPr>
        <p:cNvPr id="1" name=""/>
        <p:cNvGrpSpPr/>
        <p:nvPr/>
      </p:nvGrpSpPr>
      <p:grpSpPr>
        <a:xfrm>
          <a:off x="0" y="0"/>
          <a:ext cx="0" cy="0"/>
          <a:chOff x="0" y="0"/>
          <a:chExt cx="0" cy="0"/>
        </a:xfrm>
      </p:grpSpPr>
      <p:sp>
        <p:nvSpPr>
          <p:cNvPr id="2" name="Shape 0"/>
          <p:cNvSpPr/>
          <p:nvPr/>
        </p:nvSpPr>
        <p:spPr>
          <a:xfrm>
            <a:off x="0" y="0"/>
            <a:ext cx="177800" cy="6858000"/>
          </a:xfrm>
          <a:prstGeom prst="rect">
            <a:avLst/>
          </a:prstGeom>
          <a:solidFill>
            <a:srgbClr val="D6232A"/>
          </a:solidFill>
          <a:ln/>
        </p:spPr>
        <p:txBody>
          <a:bodyPr/>
          <a:lstStyle/>
          <a:p>
            <a:endParaRPr lang="en-IN"/>
          </a:p>
        </p:txBody>
      </p:sp>
      <p:sp>
        <p:nvSpPr>
          <p:cNvPr id="3" name="Shape 1"/>
          <p:cNvSpPr/>
          <p:nvPr/>
        </p:nvSpPr>
        <p:spPr>
          <a:xfrm>
            <a:off x="812800" y="355600"/>
            <a:ext cx="1524000" cy="1066800"/>
          </a:xfrm>
          <a:prstGeom prst="roundRect">
            <a:avLst>
              <a:gd name="adj" fmla="val 9524"/>
            </a:avLst>
          </a:prstGeom>
          <a:solidFill>
            <a:srgbClr val="F6F7FA"/>
          </a:solidFill>
          <a:ln/>
        </p:spPr>
        <p:txBody>
          <a:bodyPr/>
          <a:lstStyle/>
          <a:p>
            <a:endParaRPr lang="en-IN"/>
          </a:p>
        </p:txBody>
      </p:sp>
      <p:pic>
        <p:nvPicPr>
          <p:cNvPr id="4" name="Image 0" descr="Ajinomoto logo"/>
          <p:cNvPicPr>
            <a:picLocks noChangeAspect="1"/>
          </p:cNvPicPr>
          <p:nvPr/>
        </p:nvPicPr>
        <p:blipFill>
          <a:blip r:embed="rId3"/>
          <a:srcRect l="-164" r="-164"/>
          <a:stretch/>
        </p:blipFill>
        <p:spPr>
          <a:xfrm>
            <a:off x="939800" y="444500"/>
            <a:ext cx="1270000" cy="889000"/>
          </a:xfrm>
          <a:prstGeom prst="rect">
            <a:avLst/>
          </a:prstGeom>
        </p:spPr>
      </p:pic>
      <p:sp>
        <p:nvSpPr>
          <p:cNvPr id="5" name="Shape 2"/>
          <p:cNvSpPr/>
          <p:nvPr/>
        </p:nvSpPr>
        <p:spPr>
          <a:xfrm>
            <a:off x="9093200" y="355600"/>
            <a:ext cx="2286000" cy="1066800"/>
          </a:xfrm>
          <a:prstGeom prst="roundRect">
            <a:avLst>
              <a:gd name="adj" fmla="val 9524"/>
            </a:avLst>
          </a:prstGeom>
          <a:solidFill>
            <a:srgbClr val="F6F7FA"/>
          </a:solidFill>
          <a:ln/>
        </p:spPr>
        <p:txBody>
          <a:bodyPr/>
          <a:lstStyle/>
          <a:p>
            <a:endParaRPr lang="en-IN"/>
          </a:p>
        </p:txBody>
      </p:sp>
      <p:sp>
        <p:nvSpPr>
          <p:cNvPr id="7" name="Text 3"/>
          <p:cNvSpPr/>
          <p:nvPr/>
        </p:nvSpPr>
        <p:spPr>
          <a:xfrm>
            <a:off x="812800" y="202697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BFD3F2"/>
                </a:solidFill>
                <a:latin typeface="Public Sans" pitchFamily="34" charset="0"/>
                <a:ea typeface="Public Sans" pitchFamily="34" charset="-122"/>
                <a:cs typeface="Public Sans" pitchFamily="34" charset="-120"/>
              </a:rPr>
              <a:t>STEERING COMMITTEE UPDATE · WEEK 1 STATUS</a:t>
            </a:r>
            <a:endParaRPr lang="en-US" sz="1400" dirty="0"/>
          </a:p>
        </p:txBody>
      </p:sp>
      <p:sp>
        <p:nvSpPr>
          <p:cNvPr id="8" name="Text 4"/>
          <p:cNvSpPr>
            <a:spLocks noGrp="1"/>
          </p:cNvSpPr>
          <p:nvPr>
            <p:ph type="title"/>
          </p:nvPr>
        </p:nvSpPr>
        <p:spPr>
          <a:xfrm>
            <a:off x="812800" y="245368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i="0" dirty="0">
                <a:solidFill>
                  <a:srgbClr val="FFFFFF"/>
                </a:solidFill>
                <a:latin typeface="Public Sans" pitchFamily="34" charset="0"/>
                <a:ea typeface="Public Sans" pitchFamily="34" charset="-122"/>
                <a:cs typeface="Public Sans" pitchFamily="34" charset="-120"/>
              </a:rPr>
              <a:t>BEACON</a:t>
            </a:r>
            <a:endParaRPr lang="en-US" sz="10000" dirty="0"/>
          </a:p>
        </p:txBody>
      </p:sp>
      <p:pic>
        <p:nvPicPr>
          <p:cNvPr id="9" name="Image 2" descr="line"/>
          <p:cNvPicPr>
            <a:picLocks noChangeAspect="1"/>
          </p:cNvPicPr>
          <p:nvPr/>
        </p:nvPicPr>
        <p:blipFill>
          <a:blip r:embed="rId4"/>
          <a:srcRect/>
          <a:stretch/>
        </p:blipFill>
        <p:spPr>
          <a:xfrm>
            <a:off x="812800" y="3901480"/>
            <a:ext cx="1016000" cy="50800"/>
          </a:xfrm>
          <a:prstGeom prst="rect">
            <a:avLst/>
          </a:prstGeom>
        </p:spPr>
      </p:pic>
      <p:sp>
        <p:nvSpPr>
          <p:cNvPr id="10" name="Text 5"/>
          <p:cNvSpPr/>
          <p:nvPr/>
        </p:nvSpPr>
        <p:spPr>
          <a:xfrm>
            <a:off x="812800" y="4130080"/>
            <a:ext cx="9483725" cy="756841"/>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FFFFFF"/>
                </a:solidFill>
                <a:latin typeface="Public Sans" pitchFamily="34" charset="0"/>
                <a:ea typeface="Public Sans" pitchFamily="34" charset="-122"/>
                <a:cs typeface="Public Sans" pitchFamily="34" charset="-120"/>
              </a:rPr>
              <a:t>Supplier Integrated Management System (SIMS) Solution Assessment, Conceptual Design</a:t>
            </a:r>
            <a:endParaRPr lang="en-US" sz="2400" dirty="0"/>
          </a:p>
        </p:txBody>
      </p:sp>
      <p:sp>
        <p:nvSpPr>
          <p:cNvPr id="11" name="Text 6"/>
          <p:cNvSpPr/>
          <p:nvPr/>
        </p:nvSpPr>
        <p:spPr>
          <a:xfrm>
            <a:off x="812800" y="5039320"/>
            <a:ext cx="948372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F2"/>
                </a:solidFill>
                <a:latin typeface="Public Sans" pitchFamily="34" charset="0"/>
                <a:ea typeface="Public Sans" pitchFamily="34" charset="-122"/>
                <a:cs typeface="Public Sans" pitchFamily="34" charset="-120"/>
              </a:rPr>
              <a:t>Ajinomoto Philippines Corporation · Prepared by Durvah IT Consulting · 30 October 2026</a:t>
            </a:r>
            <a:endParaRPr lang="en-US" sz="1400" dirty="0"/>
          </a:p>
        </p:txBody>
      </p:sp>
      <p:pic>
        <p:nvPicPr>
          <p:cNvPr id="12" name="Picture 11" descr="Durvah Logo Brand New.jpg">
            <a:extLst>
              <a:ext uri="{FF2B5EF4-FFF2-40B4-BE49-F238E27FC236}">
                <a16:creationId xmlns:a16="http://schemas.microsoft.com/office/drawing/2014/main" id="{45CAA4DD-C351-94B2-0D28-3DE640FD32B8}"/>
              </a:ext>
            </a:extLst>
          </p:cNvPr>
          <p:cNvPicPr>
            <a:picLocks noChangeAspect="1"/>
          </p:cNvPicPr>
          <p:nvPr/>
        </p:nvPicPr>
        <p:blipFill>
          <a:blip r:embed="rId5"/>
          <a:stretch>
            <a:fillRect/>
          </a:stretch>
        </p:blipFill>
        <p:spPr>
          <a:xfrm>
            <a:off x="9254568" y="498202"/>
            <a:ext cx="1978211" cy="7773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6AD2-F4A6-9901-5D78-D9A08E463301}"/>
            </a:ext>
          </a:extLst>
        </p:cNvPr>
        <p:cNvGrpSpPr/>
        <p:nvPr/>
      </p:nvGrpSpPr>
      <p:grpSpPr>
        <a:xfrm>
          <a:off x="0" y="0"/>
          <a:ext cx="0" cy="0"/>
          <a:chOff x="0" y="0"/>
          <a:chExt cx="0" cy="0"/>
        </a:xfrm>
      </p:grpSpPr>
      <p:pic>
        <p:nvPicPr>
          <p:cNvPr id="2" name="Image 0" descr="Ajinomoto logo">
            <a:extLst>
              <a:ext uri="{FF2B5EF4-FFF2-40B4-BE49-F238E27FC236}">
                <a16:creationId xmlns:a16="http://schemas.microsoft.com/office/drawing/2014/main" id="{EE35E4F9-D81C-3945-6927-3E8F51972766}"/>
              </a:ext>
            </a:extLst>
          </p:cNvPr>
          <p:cNvPicPr>
            <a:picLocks noChangeAspect="1"/>
          </p:cNvPicPr>
          <p:nvPr/>
        </p:nvPicPr>
        <p:blipFill>
          <a:blip r:embed="rId3"/>
          <a:srcRect l="-26" r="-26"/>
          <a:stretch/>
        </p:blipFill>
        <p:spPr>
          <a:xfrm>
            <a:off x="9398000" y="254000"/>
            <a:ext cx="660400" cy="463550"/>
          </a:xfrm>
          <a:prstGeom prst="rect">
            <a:avLst/>
          </a:prstGeom>
        </p:spPr>
      </p:pic>
      <p:sp>
        <p:nvSpPr>
          <p:cNvPr id="4" name="Text 0">
            <a:extLst>
              <a:ext uri="{FF2B5EF4-FFF2-40B4-BE49-F238E27FC236}">
                <a16:creationId xmlns:a16="http://schemas.microsoft.com/office/drawing/2014/main" id="{3BBDF682-5190-00DC-7484-4E151B9D20FB}"/>
              </a:ext>
            </a:extLst>
          </p:cNvPr>
          <p:cNvSpPr/>
          <p:nvPr/>
        </p:nvSpPr>
        <p:spPr>
          <a:xfrm>
            <a:off x="609600" y="304800"/>
            <a:ext cx="75215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WEEK 1 AT A GLANCE</a:t>
            </a:r>
            <a:endParaRPr lang="en-US" sz="1200" dirty="0"/>
          </a:p>
        </p:txBody>
      </p:sp>
      <p:sp>
        <p:nvSpPr>
          <p:cNvPr id="5" name="Text 1">
            <a:extLst>
              <a:ext uri="{FF2B5EF4-FFF2-40B4-BE49-F238E27FC236}">
                <a16:creationId xmlns:a16="http://schemas.microsoft.com/office/drawing/2014/main" id="{9F6A62AA-02A0-6B8B-F99C-1634CEDE3A6D}"/>
              </a:ext>
            </a:extLst>
          </p:cNvPr>
          <p:cNvSpPr>
            <a:spLocks noGrp="1"/>
          </p:cNvSpPr>
          <p:nvPr>
            <p:ph type="title"/>
          </p:nvPr>
        </p:nvSpPr>
        <p:spPr>
          <a:xfrm>
            <a:off x="609600" y="568920"/>
            <a:ext cx="752157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Discovery coverage</a:t>
            </a:r>
            <a:endParaRPr lang="en-US" sz="2800" dirty="0"/>
          </a:p>
        </p:txBody>
      </p:sp>
      <p:sp>
        <p:nvSpPr>
          <p:cNvPr id="34" name="Text 30">
            <a:extLst>
              <a:ext uri="{FF2B5EF4-FFF2-40B4-BE49-F238E27FC236}">
                <a16:creationId xmlns:a16="http://schemas.microsoft.com/office/drawing/2014/main" id="{5865F026-C603-156A-0C4B-7E5D773769EA}"/>
              </a:ext>
            </a:extLst>
          </p:cNvPr>
          <p:cNvSpPr/>
          <p:nvPr/>
        </p:nvSpPr>
        <p:spPr>
          <a:xfrm>
            <a:off x="615950" y="6315373"/>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35" name="Text 31">
            <a:extLst>
              <a:ext uri="{FF2B5EF4-FFF2-40B4-BE49-F238E27FC236}">
                <a16:creationId xmlns:a16="http://schemas.microsoft.com/office/drawing/2014/main" id="{380B4ECA-48DE-CFBE-7E05-C89700F026E5}"/>
              </a:ext>
            </a:extLst>
          </p:cNvPr>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2</a:t>
            </a:r>
            <a:endParaRPr lang="en-US" sz="1200" dirty="0"/>
          </a:p>
        </p:txBody>
      </p:sp>
      <p:graphicFrame>
        <p:nvGraphicFramePr>
          <p:cNvPr id="37" name="Table 0">
            <a:extLst>
              <a:ext uri="{FF2B5EF4-FFF2-40B4-BE49-F238E27FC236}">
                <a16:creationId xmlns:a16="http://schemas.microsoft.com/office/drawing/2014/main" id="{F3B76FE0-3DCB-F562-6D39-7D735552D119}"/>
              </a:ext>
            </a:extLst>
          </p:cNvPr>
          <p:cNvGraphicFramePr>
            <a:graphicFrameLocks noGrp="1"/>
          </p:cNvGraphicFramePr>
          <p:nvPr>
            <p:extLst>
              <p:ext uri="{D42A27DB-BD31-4B8C-83A1-F6EECF244321}">
                <p14:modId xmlns:p14="http://schemas.microsoft.com/office/powerpoint/2010/main" val="2403915571"/>
              </p:ext>
            </p:extLst>
          </p:nvPr>
        </p:nvGraphicFramePr>
        <p:xfrm>
          <a:off x="1509805" y="1812579"/>
          <a:ext cx="8094811" cy="3233736"/>
        </p:xfrm>
        <a:graphic>
          <a:graphicData uri="http://schemas.openxmlformats.org/drawingml/2006/table">
            <a:tbl>
              <a:tblPr/>
              <a:tblGrid>
                <a:gridCol w="1384639">
                  <a:extLst>
                    <a:ext uri="{9D8B030D-6E8A-4147-A177-3AD203B41FA5}">
                      <a16:colId xmlns:a16="http://schemas.microsoft.com/office/drawing/2014/main" val="20000"/>
                    </a:ext>
                  </a:extLst>
                </a:gridCol>
                <a:gridCol w="1278128">
                  <a:extLst>
                    <a:ext uri="{9D8B030D-6E8A-4147-A177-3AD203B41FA5}">
                      <a16:colId xmlns:a16="http://schemas.microsoft.com/office/drawing/2014/main" val="20001"/>
                    </a:ext>
                  </a:extLst>
                </a:gridCol>
                <a:gridCol w="5432044">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2F6F9"/>
                          </a:solidFill>
                          <a:latin typeface="Carlito" pitchFamily="34" charset="0"/>
                          <a:ea typeface="Carlito" pitchFamily="34" charset="-122"/>
                          <a:cs typeface="Carlito" pitchFamily="34" charset="-120"/>
                        </a:rPr>
                        <a:t>Session</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1E244C"/>
                      </a:solidFill>
                      <a:prstDash val="solid"/>
                      <a:round/>
                      <a:headEnd type="none" w="med" len="med"/>
                      <a:tailEnd type="none" w="med" len="med"/>
                    </a:lnR>
                    <a:lnT w="0" cap="flat" cmpd="sng" algn="ctr">
                      <a:noFill/>
                    </a:lnT>
                    <a:lnB w="12700" cap="flat" cmpd="sng" algn="ctr">
                      <a:solidFill>
                        <a:srgbClr val="1E244C"/>
                      </a:solidFill>
                      <a:prstDash val="solid"/>
                      <a:round/>
                      <a:headEnd type="none" w="med" len="med"/>
                      <a:tailEnd type="none" w="med" len="med"/>
                    </a:lnB>
                    <a:solidFill>
                      <a:srgbClr val="21295C"/>
                    </a:solidFill>
                  </a:tcPr>
                </a:tc>
                <a:tc>
                  <a:txBody>
                    <a:bodyPr/>
                    <a:lstStyle/>
                    <a:p>
                      <a:pPr marL="0" indent="0">
                        <a:lnSpc>
                          <a:spcPts val="1820"/>
                        </a:lnSpc>
                        <a:buNone/>
                      </a:pPr>
                      <a:r>
                        <a:rPr lang="en-US" sz="1300" b="1" dirty="0">
                          <a:solidFill>
                            <a:srgbClr val="F2F6F9"/>
                          </a:solidFill>
                          <a:latin typeface="Carlito" pitchFamily="34" charset="0"/>
                          <a:ea typeface="Carlito" pitchFamily="34" charset="-122"/>
                          <a:cs typeface="Carlito" pitchFamily="34" charset="-120"/>
                        </a:rPr>
                        <a:t>Date</a:t>
                      </a:r>
                      <a:endParaRPr lang="en-US" sz="1300" dirty="0">
                        <a:latin typeface="Carlito" charset="0"/>
                        <a:ea typeface="Carlito" charset="0"/>
                        <a:cs typeface="Carlito" charset="0"/>
                      </a:endParaRPr>
                    </a:p>
                  </a:txBody>
                  <a:tcPr marL="57785" marR="57785" marT="57785" marB="57785">
                    <a:lnL w="12700" cap="flat" cmpd="sng" algn="ctr">
                      <a:solidFill>
                        <a:srgbClr val="1E244C"/>
                      </a:solidFill>
                      <a:prstDash val="solid"/>
                      <a:round/>
                      <a:headEnd type="none" w="med" len="med"/>
                      <a:tailEnd type="none" w="med" len="med"/>
                    </a:lnL>
                    <a:lnR w="12700" cap="flat" cmpd="sng" algn="ctr">
                      <a:solidFill>
                        <a:srgbClr val="1E244C"/>
                      </a:solidFill>
                      <a:prstDash val="solid"/>
                      <a:round/>
                      <a:headEnd type="none" w="med" len="med"/>
                      <a:tailEnd type="none" w="med" len="med"/>
                    </a:lnR>
                    <a:lnT w="0" cap="flat" cmpd="sng" algn="ctr">
                      <a:noFill/>
                    </a:lnT>
                    <a:lnB w="12700" cap="flat" cmpd="sng" algn="ctr">
                      <a:solidFill>
                        <a:srgbClr val="1E244C"/>
                      </a:solidFill>
                      <a:prstDash val="solid"/>
                      <a:round/>
                      <a:headEnd type="none" w="med" len="med"/>
                      <a:tailEnd type="none" w="med" len="med"/>
                    </a:lnB>
                    <a:solidFill>
                      <a:srgbClr val="21295C"/>
                    </a:solidFill>
                  </a:tcPr>
                </a:tc>
                <a:tc>
                  <a:txBody>
                    <a:bodyPr/>
                    <a:lstStyle/>
                    <a:p>
                      <a:pPr marL="0" indent="0">
                        <a:lnSpc>
                          <a:spcPts val="1820"/>
                        </a:lnSpc>
                        <a:buNone/>
                      </a:pPr>
                      <a:r>
                        <a:rPr lang="en-US" sz="1300" b="1" dirty="0">
                          <a:solidFill>
                            <a:srgbClr val="F2F6F9"/>
                          </a:solidFill>
                          <a:latin typeface="Carlito" pitchFamily="34" charset="0"/>
                          <a:ea typeface="Carlito" pitchFamily="34" charset="-122"/>
                          <a:cs typeface="Carlito" pitchFamily="34" charset="-120"/>
                        </a:rPr>
                        <a:t>Focus</a:t>
                      </a:r>
                      <a:endParaRPr lang="en-US" sz="1300" dirty="0">
                        <a:latin typeface="Carlito" charset="0"/>
                        <a:ea typeface="Carlito" charset="0"/>
                        <a:cs typeface="Carlito" charset="0"/>
                      </a:endParaRPr>
                    </a:p>
                  </a:txBody>
                  <a:tcPr marL="57785" marR="57785" marT="57785" marB="57785">
                    <a:lnL w="12700" cap="flat" cmpd="sng" algn="ctr">
                      <a:solidFill>
                        <a:srgbClr val="1E244C"/>
                      </a:solidFill>
                      <a:prstDash val="solid"/>
                      <a:round/>
                      <a:headEnd type="none" w="med" len="med"/>
                      <a:tailEnd type="none" w="med" len="med"/>
                    </a:lnL>
                    <a:lnR w="12700" cap="flat" cmpd="sng" algn="ctr">
                      <a:solidFill>
                        <a:srgbClr val="1E244C"/>
                      </a:solidFill>
                      <a:prstDash val="solid"/>
                      <a:round/>
                      <a:headEnd type="none" w="med" len="med"/>
                      <a:tailEnd type="none" w="med" len="med"/>
                    </a:lnR>
                    <a:lnT w="0" cap="flat" cmpd="sng" algn="ctr">
                      <a:noFill/>
                    </a:lnT>
                    <a:lnB w="12700" cap="flat" cmpd="sng" algn="ctr">
                      <a:solidFill>
                        <a:srgbClr val="1E244C"/>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Day 1</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1E244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26 Oct</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E244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Supplier onboarding and accreditation</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E244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Day 2</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27 Oct</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Material planning, PR–PO, ASN and goods receipt</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59304">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27 Oct</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Invoicing, budget, DOA and supplier performance</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Day 3</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28 Oct</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Supplier allocation, delivery scheduling and collaboration</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59304">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28 Oct</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QC receiving, LIMS, rejections and return to vendor</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Day 4</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29 Oct</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KPI reports and dashboards</a:t>
                      </a:r>
                      <a:endParaRPr lang="en-US" sz="1300" dirty="0">
                        <a:latin typeface="Carlito" charset="0"/>
                        <a:ea typeface="Carlito" charset="0"/>
                        <a:cs typeface="Carlito" charset="0"/>
                      </a:endParaRPr>
                    </a:p>
                  </a:txBody>
                  <a:tcPr marL="57785" marR="57785" marT="57785" marB="57785">
                    <a:lnL w="12700" cap="flat" cmpd="sng" algn="ctr">
                      <a:solidFill>
                        <a:srgbClr val="BEC2C4"/>
                      </a:solidFill>
                      <a:prstDash val="solid"/>
                      <a:round/>
                      <a:headEnd type="none" w="med" len="med"/>
                      <a:tailEnd type="none" w="med" len="med"/>
                    </a:lnL>
                    <a:lnR w="12700" cap="flat" cmpd="sng" algn="ctr">
                      <a:solidFill>
                        <a:srgbClr val="BEC2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2C4"/>
                      </a:solidFill>
                      <a:prstDash val="solid"/>
                      <a:round/>
                      <a:headEnd type="none" w="med" len="med"/>
                      <a:tailEnd type="none" w="med" len="med"/>
                    </a:lnB>
                    <a:solidFill>
                      <a:srgbClr val="EEF3F6"/>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Day 5</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29 Oct</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Current IT landscape and integration</a:t>
                      </a:r>
                      <a:endParaRPr lang="en-US" sz="1300" dirty="0">
                        <a:latin typeface="Carlito" charset="0"/>
                        <a:ea typeface="Carlito" charset="0"/>
                        <a:cs typeface="Carlito"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2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59304">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Total</a:t>
                      </a:r>
                      <a:endParaRPr lang="en-US" sz="1300" dirty="0">
                        <a:latin typeface="Carlito" charset="0"/>
                        <a:ea typeface="Carlito" charset="0"/>
                        <a:cs typeface="Carlito" charset="0"/>
                      </a:endParaRPr>
                    </a:p>
                  </a:txBody>
                  <a:tcPr marL="57785" marR="57785" marT="57785" marB="57785">
                    <a:lnL w="0" cap="flat" cmpd="sng" algn="ctr">
                      <a:noFill/>
                    </a:lnL>
                    <a:lnR w="12700" cap="flat" cmpd="sng" algn="ctr">
                      <a:solidFill>
                        <a:srgbClr val="B0BB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BC3"/>
                      </a:solidFill>
                      <a:prstDash val="solid"/>
                      <a:round/>
                      <a:headEnd type="none" w="med" len="med"/>
                      <a:tailEnd type="none" w="med" len="med"/>
                    </a:lnB>
                    <a:solidFill>
                      <a:srgbClr val="DCEAF4"/>
                    </a:solidFill>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B0BBC3"/>
                      </a:solidFill>
                      <a:prstDash val="solid"/>
                      <a:round/>
                      <a:headEnd type="none" w="med" len="med"/>
                      <a:tailEnd type="none" w="med" len="med"/>
                    </a:lnL>
                    <a:lnR w="12700" cap="flat" cmpd="sng" algn="ctr">
                      <a:solidFill>
                        <a:srgbClr val="B0BB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BC3"/>
                      </a:solidFill>
                      <a:prstDash val="solid"/>
                      <a:round/>
                      <a:headEnd type="none" w="med" len="med"/>
                      <a:tailEnd type="none" w="med" len="med"/>
                    </a:lnB>
                    <a:solidFill>
                      <a:srgbClr val="DCEAF4"/>
                    </a:solidFill>
                  </a:tcPr>
                </a:tc>
                <a:tc>
                  <a:txBody>
                    <a:bodyPr/>
                    <a:lstStyle/>
                    <a:p>
                      <a:pPr marL="0" indent="0">
                        <a:lnSpc>
                          <a:spcPts val="1820"/>
                        </a:lnSpc>
                        <a:buNone/>
                      </a:pPr>
                      <a:r>
                        <a:rPr lang="en-US" sz="1300" dirty="0">
                          <a:solidFill>
                            <a:srgbClr val="3D4A5C"/>
                          </a:solidFill>
                          <a:latin typeface="Carlito" pitchFamily="34" charset="0"/>
                          <a:ea typeface="Carlito" pitchFamily="34" charset="-122"/>
                          <a:cs typeface="Carlito" pitchFamily="34" charset="-120"/>
                        </a:rPr>
                        <a:t>Scope reference: SIMS Detailed Scope (10 capability areas)</a:t>
                      </a:r>
                      <a:endParaRPr lang="en-US" sz="1300" dirty="0">
                        <a:latin typeface="Carlito" charset="0"/>
                        <a:ea typeface="Carlito" charset="0"/>
                        <a:cs typeface="Carlito" charset="0"/>
                      </a:endParaRPr>
                    </a:p>
                  </a:txBody>
                  <a:tcPr marL="57785" marR="57785" marT="57785" marB="57785">
                    <a:lnL w="12700" cap="flat" cmpd="sng" algn="ctr">
                      <a:solidFill>
                        <a:srgbClr val="B0BBC3"/>
                      </a:solidFill>
                      <a:prstDash val="solid"/>
                      <a:round/>
                      <a:headEnd type="none" w="med" len="med"/>
                      <a:tailEnd type="none" w="med" len="med"/>
                    </a:lnL>
                    <a:lnR w="12700" cap="flat" cmpd="sng" algn="ctr">
                      <a:solidFill>
                        <a:srgbClr val="B0BB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BC3"/>
                      </a:solidFill>
                      <a:prstDash val="solid"/>
                      <a:round/>
                      <a:headEnd type="none" w="med" len="med"/>
                      <a:tailEnd type="none" w="med" len="med"/>
                    </a:lnB>
                    <a:solidFill>
                      <a:srgbClr val="DCEAF4"/>
                    </a:solidFill>
                  </a:tcPr>
                </a:tc>
                <a:extLst>
                  <a:ext uri="{0D108BD9-81ED-4DB2-BD59-A6C34878D82A}">
                    <a16:rowId xmlns:a16="http://schemas.microsoft.com/office/drawing/2014/main" val="10008"/>
                  </a:ext>
                </a:extLst>
              </a:tr>
            </a:tbl>
          </a:graphicData>
        </a:graphic>
      </p:graphicFrame>
      <p:pic>
        <p:nvPicPr>
          <p:cNvPr id="38" name="Picture 37" descr="Durvah Logo Brand New.jpg">
            <a:extLst>
              <a:ext uri="{FF2B5EF4-FFF2-40B4-BE49-F238E27FC236}">
                <a16:creationId xmlns:a16="http://schemas.microsoft.com/office/drawing/2014/main" id="{DF282D3A-CE2F-9387-214D-40FDD6D944B7}"/>
              </a:ext>
            </a:extLst>
          </p:cNvPr>
          <p:cNvPicPr>
            <a:picLocks noChangeAspect="1"/>
          </p:cNvPicPr>
          <p:nvPr/>
        </p:nvPicPr>
        <p:blipFill>
          <a:blip r:embed="rId4"/>
          <a:stretch>
            <a:fillRect/>
          </a:stretch>
        </p:blipFill>
        <p:spPr>
          <a:xfrm>
            <a:off x="10363201" y="228600"/>
            <a:ext cx="1147482" cy="450917"/>
          </a:xfrm>
          <a:prstGeom prst="rect">
            <a:avLst/>
          </a:prstGeom>
        </p:spPr>
      </p:pic>
    </p:spTree>
    <p:extLst>
      <p:ext uri="{BB962C8B-B14F-4D97-AF65-F5344CB8AC3E}">
        <p14:creationId xmlns:p14="http://schemas.microsoft.com/office/powerpoint/2010/main" val="1187240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7FA"/>
        </a:solidFill>
        <a:effectLst/>
      </p:bgPr>
    </p:bg>
    <p:spTree>
      <p:nvGrpSpPr>
        <p:cNvPr id="1" name=""/>
        <p:cNvGrpSpPr/>
        <p:nvPr/>
      </p:nvGrpSpPr>
      <p:grpSpPr>
        <a:xfrm>
          <a:off x="0" y="0"/>
          <a:ext cx="0" cy="0"/>
          <a:chOff x="0" y="0"/>
          <a:chExt cx="0" cy="0"/>
        </a:xfrm>
      </p:grpSpPr>
      <p:pic>
        <p:nvPicPr>
          <p:cNvPr id="2" name="Image 0" descr="Ajinomoto logo"/>
          <p:cNvPicPr>
            <a:picLocks noChangeAspect="1"/>
          </p:cNvPicPr>
          <p:nvPr/>
        </p:nvPicPr>
        <p:blipFill>
          <a:blip r:embed="rId3"/>
          <a:srcRect l="-26" r="-26"/>
          <a:stretch/>
        </p:blipFill>
        <p:spPr>
          <a:xfrm>
            <a:off x="9398000" y="254000"/>
            <a:ext cx="660400" cy="463550"/>
          </a:xfrm>
          <a:prstGeom prst="rect">
            <a:avLst/>
          </a:prstGeom>
        </p:spPr>
      </p:pic>
      <p:sp>
        <p:nvSpPr>
          <p:cNvPr id="4" name="Text 0"/>
          <p:cNvSpPr/>
          <p:nvPr/>
        </p:nvSpPr>
        <p:spPr>
          <a:xfrm>
            <a:off x="609600" y="304800"/>
            <a:ext cx="75215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WEEK 1 AT A GLANCE</a:t>
            </a:r>
            <a:endParaRPr lang="en-US" sz="1200" dirty="0"/>
          </a:p>
        </p:txBody>
      </p:sp>
      <p:sp>
        <p:nvSpPr>
          <p:cNvPr id="5" name="Text 1"/>
          <p:cNvSpPr>
            <a:spLocks noGrp="1"/>
          </p:cNvSpPr>
          <p:nvPr>
            <p:ph type="title"/>
          </p:nvPr>
        </p:nvSpPr>
        <p:spPr>
          <a:xfrm>
            <a:off x="609600" y="568920"/>
            <a:ext cx="752157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Discovery coverage in numbers</a:t>
            </a:r>
            <a:endParaRPr lang="en-US" sz="2800" dirty="0"/>
          </a:p>
        </p:txBody>
      </p:sp>
      <p:sp>
        <p:nvSpPr>
          <p:cNvPr id="6" name="Shape 2"/>
          <p:cNvSpPr/>
          <p:nvPr/>
        </p:nvSpPr>
        <p:spPr>
          <a:xfrm>
            <a:off x="615950" y="1169591"/>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7" name="Text 3"/>
          <p:cNvSpPr/>
          <p:nvPr/>
        </p:nvSpPr>
        <p:spPr>
          <a:xfrm>
            <a:off x="800100" y="1353741"/>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ea typeface="Public Sans" pitchFamily="34" charset="-122"/>
                <a:cs typeface="Public Sans" pitchFamily="34" charset="-120"/>
              </a:rPr>
              <a:t>10</a:t>
            </a:r>
            <a:endParaRPr lang="en-US" sz="3600" dirty="0"/>
          </a:p>
        </p:txBody>
      </p:sp>
      <p:sp>
        <p:nvSpPr>
          <p:cNvPr id="8" name="Text 4"/>
          <p:cNvSpPr/>
          <p:nvPr/>
        </p:nvSpPr>
        <p:spPr>
          <a:xfrm>
            <a:off x="800100" y="1907448"/>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Functional domains covered</a:t>
            </a:r>
            <a:endParaRPr lang="en-US" sz="1500" dirty="0"/>
          </a:p>
        </p:txBody>
      </p:sp>
      <p:sp>
        <p:nvSpPr>
          <p:cNvPr id="9" name="Text 5"/>
          <p:cNvSpPr/>
          <p:nvPr/>
        </p:nvSpPr>
        <p:spPr>
          <a:xfrm>
            <a:off x="800100" y="2186848"/>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87 itemised features, all discussed: 53 internal and 34 supplier-facing</a:t>
            </a:r>
            <a:endParaRPr lang="en-US" sz="1200" dirty="0"/>
          </a:p>
        </p:txBody>
      </p:sp>
      <p:sp>
        <p:nvSpPr>
          <p:cNvPr id="10" name="Shape 6"/>
          <p:cNvSpPr/>
          <p:nvPr/>
        </p:nvSpPr>
        <p:spPr>
          <a:xfrm>
            <a:off x="4324350" y="1169591"/>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11" name="Text 7"/>
          <p:cNvSpPr/>
          <p:nvPr/>
        </p:nvSpPr>
        <p:spPr>
          <a:xfrm>
            <a:off x="4508500" y="1353741"/>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rPr>
              <a:t>4</a:t>
            </a:r>
            <a:endParaRPr lang="en-US" sz="3600" dirty="0"/>
          </a:p>
        </p:txBody>
      </p:sp>
      <p:sp>
        <p:nvSpPr>
          <p:cNvPr id="12" name="Text 8"/>
          <p:cNvSpPr/>
          <p:nvPr/>
        </p:nvSpPr>
        <p:spPr>
          <a:xfrm>
            <a:off x="4508500" y="1907448"/>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Working sessions, 26–29 Oct</a:t>
            </a:r>
            <a:endParaRPr lang="en-US" sz="1500" dirty="0"/>
          </a:p>
        </p:txBody>
      </p:sp>
      <p:sp>
        <p:nvSpPr>
          <p:cNvPr id="13" name="Text 9"/>
          <p:cNvSpPr/>
          <p:nvPr/>
        </p:nvSpPr>
        <p:spPr>
          <a:xfrm>
            <a:off x="4508500" y="2186848"/>
            <a:ext cx="3270250" cy="452041"/>
          </a:xfrm>
          <a:prstGeom prst="rect">
            <a:avLst/>
          </a:prstGeom>
          <a:noFill/>
          <a:ln/>
        </p:spPr>
        <p:txBody>
          <a:bodyPr wrap="square" lIns="0" tIns="0" rIns="0" bIns="0" rtlCol="0" anchor="t">
            <a:normAutofit fontScale="77500" lnSpcReduction="20000"/>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Procurement, Vendor Onboarding and risk, Material planning, invoicing, QC and LIMS, allocation, KPIs, IT </a:t>
            </a:r>
            <a:r>
              <a:rPr lang="en-US" sz="1200" dirty="0" err="1">
                <a:solidFill>
                  <a:srgbClr val="566074"/>
                </a:solidFill>
                <a:latin typeface="Public Sans" pitchFamily="34" charset="0"/>
                <a:ea typeface="Public Sans" pitchFamily="34" charset="-122"/>
                <a:cs typeface="Public Sans" pitchFamily="34" charset="-120"/>
              </a:rPr>
              <a:t>etc</a:t>
            </a:r>
            <a:endParaRPr lang="en-US" sz="1200" dirty="0"/>
          </a:p>
        </p:txBody>
      </p:sp>
      <p:sp>
        <p:nvSpPr>
          <p:cNvPr id="14" name="Shape 10"/>
          <p:cNvSpPr/>
          <p:nvPr/>
        </p:nvSpPr>
        <p:spPr>
          <a:xfrm>
            <a:off x="8032750" y="1169591"/>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15" name="Text 11"/>
          <p:cNvSpPr/>
          <p:nvPr/>
        </p:nvSpPr>
        <p:spPr>
          <a:xfrm>
            <a:off x="8216900" y="1353741"/>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rPr>
              <a:t>7</a:t>
            </a:r>
            <a:endParaRPr lang="en-US" sz="3600" dirty="0"/>
          </a:p>
        </p:txBody>
      </p:sp>
      <p:sp>
        <p:nvSpPr>
          <p:cNvPr id="16" name="Text 12"/>
          <p:cNvSpPr/>
          <p:nvPr/>
        </p:nvSpPr>
        <p:spPr>
          <a:xfrm>
            <a:off x="8216900" y="1907448"/>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APC departments engaged</a:t>
            </a:r>
            <a:endParaRPr lang="en-US" sz="1500" dirty="0"/>
          </a:p>
        </p:txBody>
      </p:sp>
      <p:sp>
        <p:nvSpPr>
          <p:cNvPr id="17" name="Text 13"/>
          <p:cNvSpPr/>
          <p:nvPr/>
        </p:nvSpPr>
        <p:spPr>
          <a:xfrm>
            <a:off x="8216900" y="2186848"/>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Procurement, Planning, Finance, QAD, QC, IT and R&amp;D</a:t>
            </a:r>
            <a:endParaRPr lang="en-US" sz="1200" dirty="0"/>
          </a:p>
        </p:txBody>
      </p:sp>
      <p:sp>
        <p:nvSpPr>
          <p:cNvPr id="18" name="Shape 14"/>
          <p:cNvSpPr/>
          <p:nvPr/>
        </p:nvSpPr>
        <p:spPr>
          <a:xfrm>
            <a:off x="615950" y="2962739"/>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19" name="Text 15"/>
          <p:cNvSpPr/>
          <p:nvPr/>
        </p:nvSpPr>
        <p:spPr>
          <a:xfrm>
            <a:off x="800100" y="3146889"/>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ea typeface="Public Sans" pitchFamily="34" charset="-122"/>
                <a:cs typeface="Public Sans" pitchFamily="34" charset="-120"/>
              </a:rPr>
              <a:t>20+</a:t>
            </a:r>
            <a:endParaRPr lang="en-US" sz="3600" dirty="0"/>
          </a:p>
        </p:txBody>
      </p:sp>
      <p:sp>
        <p:nvSpPr>
          <p:cNvPr id="20" name="Text 16"/>
          <p:cNvSpPr/>
          <p:nvPr/>
        </p:nvSpPr>
        <p:spPr>
          <a:xfrm>
            <a:off x="800100" y="3700595"/>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APC stakeholders involved</a:t>
            </a:r>
            <a:endParaRPr lang="en-US" sz="1500" dirty="0"/>
          </a:p>
        </p:txBody>
      </p:sp>
      <p:sp>
        <p:nvSpPr>
          <p:cNvPr id="21" name="Text 17"/>
          <p:cNvSpPr/>
          <p:nvPr/>
        </p:nvSpPr>
        <p:spPr>
          <a:xfrm>
            <a:off x="800100" y="3979995"/>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From project advisor and owner to analysts, planners and IT</a:t>
            </a:r>
            <a:endParaRPr lang="en-US" sz="1200" dirty="0"/>
          </a:p>
        </p:txBody>
      </p:sp>
      <p:sp>
        <p:nvSpPr>
          <p:cNvPr id="22" name="Shape 18"/>
          <p:cNvSpPr/>
          <p:nvPr/>
        </p:nvSpPr>
        <p:spPr>
          <a:xfrm>
            <a:off x="4324350" y="2962739"/>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23" name="Text 19"/>
          <p:cNvSpPr/>
          <p:nvPr/>
        </p:nvSpPr>
        <p:spPr>
          <a:xfrm>
            <a:off x="4508500" y="3146889"/>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rPr>
              <a:t>5</a:t>
            </a:r>
            <a:endParaRPr lang="en-US" sz="3600" dirty="0"/>
          </a:p>
        </p:txBody>
      </p:sp>
      <p:sp>
        <p:nvSpPr>
          <p:cNvPr id="24" name="Text 20"/>
          <p:cNvSpPr/>
          <p:nvPr/>
        </p:nvSpPr>
        <p:spPr>
          <a:xfrm>
            <a:off x="4508500" y="3700595"/>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Technologies and tools reviewed</a:t>
            </a:r>
            <a:endParaRPr lang="en-US" sz="1500" dirty="0"/>
          </a:p>
        </p:txBody>
      </p:sp>
      <p:sp>
        <p:nvSpPr>
          <p:cNvPr id="25" name="Text 21"/>
          <p:cNvSpPr/>
          <p:nvPr/>
        </p:nvSpPr>
        <p:spPr>
          <a:xfrm>
            <a:off x="4508500" y="3979995"/>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SAP S/4HANA, Jedox, Infor WMS, LIMS, </a:t>
            </a:r>
            <a:r>
              <a:rPr lang="en-US" sz="1200" dirty="0" err="1">
                <a:solidFill>
                  <a:srgbClr val="566074"/>
                </a:solidFill>
                <a:latin typeface="Public Sans" pitchFamily="34" charset="0"/>
                <a:ea typeface="Public Sans" pitchFamily="34" charset="-122"/>
                <a:cs typeface="Public Sans" pitchFamily="34" charset="-120"/>
              </a:rPr>
              <a:t>DataSpider</a:t>
            </a:r>
            <a:r>
              <a:rPr lang="en-US" sz="1200" dirty="0">
                <a:solidFill>
                  <a:srgbClr val="566074"/>
                </a:solidFill>
                <a:latin typeface="Public Sans" pitchFamily="34" charset="0"/>
                <a:ea typeface="Public Sans" pitchFamily="34" charset="-122"/>
                <a:cs typeface="Public Sans" pitchFamily="34" charset="-120"/>
              </a:rPr>
              <a:t> and Concur</a:t>
            </a:r>
            <a:endParaRPr lang="en-US" sz="1200" dirty="0"/>
          </a:p>
        </p:txBody>
      </p:sp>
      <p:sp>
        <p:nvSpPr>
          <p:cNvPr id="26" name="Shape 22"/>
          <p:cNvSpPr/>
          <p:nvPr/>
        </p:nvSpPr>
        <p:spPr>
          <a:xfrm>
            <a:off x="8032750" y="2962739"/>
            <a:ext cx="3543300" cy="1628048"/>
          </a:xfrm>
          <a:prstGeom prst="roundRect">
            <a:avLst>
              <a:gd name="adj" fmla="val 5851"/>
            </a:avLst>
          </a:prstGeom>
          <a:solidFill>
            <a:srgbClr val="FFFFFF"/>
          </a:solidFill>
          <a:ln w="12700">
            <a:solidFill>
              <a:srgbClr val="DDE2EC"/>
            </a:solidFill>
            <a:prstDash val="solid"/>
          </a:ln>
        </p:spPr>
        <p:txBody>
          <a:bodyPr/>
          <a:lstStyle/>
          <a:p>
            <a:endParaRPr lang="en-IN"/>
          </a:p>
        </p:txBody>
      </p:sp>
      <p:sp>
        <p:nvSpPr>
          <p:cNvPr id="27" name="Text 23"/>
          <p:cNvSpPr/>
          <p:nvPr/>
        </p:nvSpPr>
        <p:spPr>
          <a:xfrm>
            <a:off x="8216900" y="3146889"/>
            <a:ext cx="3270250"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D6232A"/>
                </a:solidFill>
                <a:latin typeface="Public Sans" pitchFamily="34" charset="0"/>
                <a:ea typeface="Public Sans" pitchFamily="34" charset="-122"/>
                <a:cs typeface="Public Sans" pitchFamily="34" charset="-120"/>
              </a:rPr>
              <a:t>126</a:t>
            </a:r>
            <a:endParaRPr lang="en-US" sz="3600" dirty="0"/>
          </a:p>
        </p:txBody>
      </p:sp>
      <p:sp>
        <p:nvSpPr>
          <p:cNvPr id="28" name="Text 24"/>
          <p:cNvSpPr/>
          <p:nvPr/>
        </p:nvSpPr>
        <p:spPr>
          <a:xfrm>
            <a:off x="8216900" y="3700595"/>
            <a:ext cx="3270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2E6B"/>
                </a:solidFill>
                <a:latin typeface="Public Sans" pitchFamily="34" charset="0"/>
                <a:ea typeface="Public Sans" pitchFamily="34" charset="-122"/>
                <a:cs typeface="Public Sans" pitchFamily="34" charset="-120"/>
              </a:rPr>
              <a:t>Requirements captured</a:t>
            </a:r>
            <a:endParaRPr lang="en-US" sz="1500" dirty="0"/>
          </a:p>
        </p:txBody>
      </p:sp>
      <p:sp>
        <p:nvSpPr>
          <p:cNvPr id="29" name="Text 25"/>
          <p:cNvSpPr/>
          <p:nvPr/>
        </p:nvSpPr>
        <p:spPr>
          <a:xfrm>
            <a:off x="8216900" y="3979995"/>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Each rated Must, Should or Could for APC to confirm</a:t>
            </a:r>
            <a:endParaRPr lang="en-US" sz="1200" dirty="0"/>
          </a:p>
        </p:txBody>
      </p:sp>
      <p:sp>
        <p:nvSpPr>
          <p:cNvPr id="30" name="Shape 26"/>
          <p:cNvSpPr/>
          <p:nvPr/>
        </p:nvSpPr>
        <p:spPr>
          <a:xfrm>
            <a:off x="609600" y="4800336"/>
            <a:ext cx="10972800" cy="571500"/>
          </a:xfrm>
          <a:prstGeom prst="roundRect">
            <a:avLst>
              <a:gd name="adj" fmla="val 17778"/>
            </a:avLst>
          </a:prstGeom>
          <a:solidFill>
            <a:srgbClr val="0B2E6B"/>
          </a:solidFill>
          <a:ln/>
        </p:spPr>
        <p:txBody>
          <a:bodyPr/>
          <a:lstStyle/>
          <a:p>
            <a:endParaRPr lang="en-IN" dirty="0"/>
          </a:p>
        </p:txBody>
      </p:sp>
      <p:sp>
        <p:nvSpPr>
          <p:cNvPr id="31" name="Text 27"/>
          <p:cNvSpPr/>
          <p:nvPr/>
        </p:nvSpPr>
        <p:spPr>
          <a:xfrm>
            <a:off x="812800" y="4952736"/>
            <a:ext cx="230171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Public Sans" pitchFamily="34" charset="0"/>
                <a:ea typeface="Public Sans" pitchFamily="34" charset="-122"/>
                <a:cs typeface="Public Sans" pitchFamily="34" charset="-120"/>
              </a:rPr>
              <a:t>50+</a:t>
            </a:r>
            <a:r>
              <a:rPr lang="en-US" sz="1500" dirty="0">
                <a:solidFill>
                  <a:srgbClr val="FFFFFF"/>
                </a:solidFill>
                <a:latin typeface="Public Sans" pitchFamily="34" charset="0"/>
                <a:ea typeface="Public Sans" pitchFamily="34" charset="-122"/>
                <a:cs typeface="Public Sans" pitchFamily="34" charset="-120"/>
              </a:rPr>
              <a:t> key challenges</a:t>
            </a:r>
            <a:endParaRPr lang="en-US" sz="1500" dirty="0"/>
          </a:p>
        </p:txBody>
      </p:sp>
      <p:sp>
        <p:nvSpPr>
          <p:cNvPr id="32" name="Text 28"/>
          <p:cNvSpPr/>
          <p:nvPr/>
        </p:nvSpPr>
        <p:spPr>
          <a:xfrm>
            <a:off x="5257469" y="4952736"/>
            <a:ext cx="1960007" cy="292100"/>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
        <p:nvSpPr>
          <p:cNvPr id="33" name="Text 29"/>
          <p:cNvSpPr/>
          <p:nvPr/>
        </p:nvSpPr>
        <p:spPr>
          <a:xfrm>
            <a:off x="9024938" y="4952736"/>
            <a:ext cx="2354263"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FFFFFF"/>
                </a:solidFill>
                <a:latin typeface="Public Sans" pitchFamily="34" charset="0"/>
                <a:ea typeface="Public Sans" pitchFamily="34" charset="-122"/>
                <a:cs typeface="Public Sans" pitchFamily="34" charset="-120"/>
              </a:rPr>
              <a:t>7+ </a:t>
            </a:r>
            <a:r>
              <a:rPr lang="en-US" sz="1500" dirty="0">
                <a:solidFill>
                  <a:srgbClr val="FFFFFF"/>
                </a:solidFill>
                <a:latin typeface="Public Sans" pitchFamily="34" charset="0"/>
                <a:ea typeface="Public Sans" pitchFamily="34" charset="-122"/>
                <a:cs typeface="Public Sans" pitchFamily="34" charset="-120"/>
              </a:rPr>
              <a:t>Templates received</a:t>
            </a:r>
            <a:endParaRPr lang="en-US" sz="1500" dirty="0"/>
          </a:p>
        </p:txBody>
      </p:sp>
      <p:sp>
        <p:nvSpPr>
          <p:cNvPr id="34" name="Text 30"/>
          <p:cNvSpPr/>
          <p:nvPr/>
        </p:nvSpPr>
        <p:spPr>
          <a:xfrm>
            <a:off x="615950" y="6315373"/>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35" name="Text 31"/>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3</a:t>
            </a:r>
            <a:endParaRPr lang="en-US" sz="1200" dirty="0"/>
          </a:p>
        </p:txBody>
      </p:sp>
      <p:pic>
        <p:nvPicPr>
          <p:cNvPr id="37" name="Picture 36" descr="Durvah Logo Brand New.jpg">
            <a:extLst>
              <a:ext uri="{FF2B5EF4-FFF2-40B4-BE49-F238E27FC236}">
                <a16:creationId xmlns:a16="http://schemas.microsoft.com/office/drawing/2014/main" id="{86C8DC44-45E9-5BF2-7A59-AB7E74809FA2}"/>
              </a:ext>
            </a:extLst>
          </p:cNvPr>
          <p:cNvPicPr>
            <a:picLocks noChangeAspect="1"/>
          </p:cNvPicPr>
          <p:nvPr/>
        </p:nvPicPr>
        <p:blipFill>
          <a:blip r:embed="rId4"/>
          <a:stretch>
            <a:fillRect/>
          </a:stretch>
        </p:blipFill>
        <p:spPr>
          <a:xfrm>
            <a:off x="10363201" y="228600"/>
            <a:ext cx="1147482" cy="4509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08BB1-14F4-5FBD-7C75-8498EDB03663}"/>
            </a:ext>
          </a:extLst>
        </p:cNvPr>
        <p:cNvGrpSpPr/>
        <p:nvPr/>
      </p:nvGrpSpPr>
      <p:grpSpPr>
        <a:xfrm>
          <a:off x="0" y="0"/>
          <a:ext cx="0" cy="0"/>
          <a:chOff x="0" y="0"/>
          <a:chExt cx="0" cy="0"/>
        </a:xfrm>
      </p:grpSpPr>
      <p:pic>
        <p:nvPicPr>
          <p:cNvPr id="2" name="Image 0" descr="Ajinomoto logo">
            <a:extLst>
              <a:ext uri="{FF2B5EF4-FFF2-40B4-BE49-F238E27FC236}">
                <a16:creationId xmlns:a16="http://schemas.microsoft.com/office/drawing/2014/main" id="{45A389BD-EEE2-2E94-9A32-CC3EE34FBCA1}"/>
              </a:ext>
            </a:extLst>
          </p:cNvPr>
          <p:cNvPicPr>
            <a:picLocks noChangeAspect="1"/>
          </p:cNvPicPr>
          <p:nvPr/>
        </p:nvPicPr>
        <p:blipFill>
          <a:blip r:embed="rId3"/>
          <a:srcRect l="-26" r="-26"/>
          <a:stretch/>
        </p:blipFill>
        <p:spPr>
          <a:xfrm>
            <a:off x="9398000" y="254000"/>
            <a:ext cx="660400" cy="463550"/>
          </a:xfrm>
          <a:prstGeom prst="rect">
            <a:avLst/>
          </a:prstGeom>
        </p:spPr>
      </p:pic>
      <p:sp>
        <p:nvSpPr>
          <p:cNvPr id="4" name="Text 0">
            <a:extLst>
              <a:ext uri="{FF2B5EF4-FFF2-40B4-BE49-F238E27FC236}">
                <a16:creationId xmlns:a16="http://schemas.microsoft.com/office/drawing/2014/main" id="{7ADC6D16-D19B-A171-4660-BE9549FAD992}"/>
              </a:ext>
            </a:extLst>
          </p:cNvPr>
          <p:cNvSpPr/>
          <p:nvPr/>
        </p:nvSpPr>
        <p:spPr>
          <a:xfrm>
            <a:off x="609600" y="304800"/>
            <a:ext cx="817562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EXISTING SYSTEM ARCHITECTURE</a:t>
            </a:r>
            <a:endParaRPr lang="en-US" sz="1200" dirty="0"/>
          </a:p>
        </p:txBody>
      </p:sp>
      <p:sp>
        <p:nvSpPr>
          <p:cNvPr id="5" name="Text 1">
            <a:extLst>
              <a:ext uri="{FF2B5EF4-FFF2-40B4-BE49-F238E27FC236}">
                <a16:creationId xmlns:a16="http://schemas.microsoft.com/office/drawing/2014/main" id="{8FCB0A99-78BA-C51F-B134-74C9ED2E3E91}"/>
              </a:ext>
            </a:extLst>
          </p:cNvPr>
          <p:cNvSpPr>
            <a:spLocks noGrp="1"/>
          </p:cNvSpPr>
          <p:nvPr>
            <p:ph type="title"/>
          </p:nvPr>
        </p:nvSpPr>
        <p:spPr>
          <a:xfrm>
            <a:off x="609600" y="568920"/>
            <a:ext cx="817562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System Process View</a:t>
            </a:r>
            <a:endParaRPr lang="en-US" sz="2800" dirty="0"/>
          </a:p>
        </p:txBody>
      </p:sp>
      <p:sp>
        <p:nvSpPr>
          <p:cNvPr id="57" name="Text 53">
            <a:extLst>
              <a:ext uri="{FF2B5EF4-FFF2-40B4-BE49-F238E27FC236}">
                <a16:creationId xmlns:a16="http://schemas.microsoft.com/office/drawing/2014/main" id="{017E529D-B6FB-7D2E-DFC2-3763FE34B3AB}"/>
              </a:ext>
            </a:extLst>
          </p:cNvPr>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58" name="Text 54">
            <a:extLst>
              <a:ext uri="{FF2B5EF4-FFF2-40B4-BE49-F238E27FC236}">
                <a16:creationId xmlns:a16="http://schemas.microsoft.com/office/drawing/2014/main" id="{4C0BB5B4-260E-AF75-98FB-15EACF08676C}"/>
              </a:ext>
            </a:extLst>
          </p:cNvPr>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4</a:t>
            </a:r>
            <a:endParaRPr lang="en-US" sz="1200" dirty="0"/>
          </a:p>
        </p:txBody>
      </p:sp>
      <p:sp>
        <p:nvSpPr>
          <p:cNvPr id="60" name="Shape 2">
            <a:extLst>
              <a:ext uri="{FF2B5EF4-FFF2-40B4-BE49-F238E27FC236}">
                <a16:creationId xmlns:a16="http://schemas.microsoft.com/office/drawing/2014/main" id="{469F7541-89F8-858C-9F13-ACE6A11F2C74}"/>
              </a:ext>
            </a:extLst>
          </p:cNvPr>
          <p:cNvSpPr/>
          <p:nvPr/>
        </p:nvSpPr>
        <p:spPr>
          <a:xfrm>
            <a:off x="768350" y="1436391"/>
            <a:ext cx="165100" cy="127000"/>
          </a:xfrm>
          <a:prstGeom prst="roundRect">
            <a:avLst>
              <a:gd name="adj" fmla="val 15000"/>
            </a:avLst>
          </a:prstGeom>
          <a:solidFill>
            <a:srgbClr val="DCEAF4"/>
          </a:solidFill>
          <a:ln w="12700">
            <a:solidFill>
              <a:srgbClr val="065A82"/>
            </a:solidFill>
            <a:prstDash val="solid"/>
          </a:ln>
        </p:spPr>
        <p:txBody>
          <a:bodyPr/>
          <a:lstStyle/>
          <a:p>
            <a:endParaRPr lang="en-IN"/>
          </a:p>
        </p:txBody>
      </p:sp>
      <p:sp>
        <p:nvSpPr>
          <p:cNvPr id="62" name="Text 3">
            <a:extLst>
              <a:ext uri="{FF2B5EF4-FFF2-40B4-BE49-F238E27FC236}">
                <a16:creationId xmlns:a16="http://schemas.microsoft.com/office/drawing/2014/main" id="{5FF32A26-FC4C-F1F2-8CF6-794F0EADFEB2}"/>
              </a:ext>
            </a:extLst>
          </p:cNvPr>
          <p:cNvSpPr/>
          <p:nvPr/>
        </p:nvSpPr>
        <p:spPr>
          <a:xfrm>
            <a:off x="990600" y="1393262"/>
            <a:ext cx="4256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Azure</a:t>
            </a:r>
            <a:endParaRPr lang="en-US" sz="1200" dirty="0"/>
          </a:p>
        </p:txBody>
      </p:sp>
      <p:sp>
        <p:nvSpPr>
          <p:cNvPr id="64" name="Shape 4">
            <a:extLst>
              <a:ext uri="{FF2B5EF4-FFF2-40B4-BE49-F238E27FC236}">
                <a16:creationId xmlns:a16="http://schemas.microsoft.com/office/drawing/2014/main" id="{34BEE7D4-CB32-2677-D835-E3E1B1E64F32}"/>
              </a:ext>
            </a:extLst>
          </p:cNvPr>
          <p:cNvSpPr/>
          <p:nvPr/>
        </p:nvSpPr>
        <p:spPr>
          <a:xfrm>
            <a:off x="1529424" y="1436391"/>
            <a:ext cx="165100" cy="127000"/>
          </a:xfrm>
          <a:prstGeom prst="roundRect">
            <a:avLst>
              <a:gd name="adj" fmla="val 15000"/>
            </a:avLst>
          </a:prstGeom>
          <a:solidFill>
            <a:srgbClr val="DDF0EF"/>
          </a:solidFill>
          <a:ln w="12700">
            <a:solidFill>
              <a:srgbClr val="1C7293"/>
            </a:solidFill>
            <a:prstDash val="solid"/>
          </a:ln>
        </p:spPr>
        <p:txBody>
          <a:bodyPr/>
          <a:lstStyle/>
          <a:p>
            <a:endParaRPr lang="en-IN"/>
          </a:p>
        </p:txBody>
      </p:sp>
      <p:sp>
        <p:nvSpPr>
          <p:cNvPr id="66" name="Text 5">
            <a:extLst>
              <a:ext uri="{FF2B5EF4-FFF2-40B4-BE49-F238E27FC236}">
                <a16:creationId xmlns:a16="http://schemas.microsoft.com/office/drawing/2014/main" id="{97D76BD7-726F-8DEF-DEE1-92F776A282AC}"/>
              </a:ext>
            </a:extLst>
          </p:cNvPr>
          <p:cNvSpPr/>
          <p:nvPr/>
        </p:nvSpPr>
        <p:spPr>
          <a:xfrm>
            <a:off x="1751674" y="1393262"/>
            <a:ext cx="9045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SaaS / cloud</a:t>
            </a:r>
            <a:endParaRPr lang="en-US" sz="1200" dirty="0"/>
          </a:p>
        </p:txBody>
      </p:sp>
      <p:sp>
        <p:nvSpPr>
          <p:cNvPr id="68" name="Shape 6">
            <a:extLst>
              <a:ext uri="{FF2B5EF4-FFF2-40B4-BE49-F238E27FC236}">
                <a16:creationId xmlns:a16="http://schemas.microsoft.com/office/drawing/2014/main" id="{40B23AFF-06E5-65EB-903D-F7C71D3E71FF}"/>
              </a:ext>
            </a:extLst>
          </p:cNvPr>
          <p:cNvSpPr/>
          <p:nvPr/>
        </p:nvSpPr>
        <p:spPr>
          <a:xfrm>
            <a:off x="2689622" y="1436391"/>
            <a:ext cx="165100" cy="127000"/>
          </a:xfrm>
          <a:prstGeom prst="roundRect">
            <a:avLst>
              <a:gd name="adj" fmla="val 15000"/>
            </a:avLst>
          </a:prstGeom>
          <a:solidFill>
            <a:srgbClr val="F7E6D9"/>
          </a:solidFill>
          <a:ln w="12700">
            <a:solidFill>
              <a:srgbClr val="B5541E"/>
            </a:solidFill>
            <a:prstDash val="solid"/>
          </a:ln>
        </p:spPr>
        <p:txBody>
          <a:bodyPr/>
          <a:lstStyle/>
          <a:p>
            <a:endParaRPr lang="en-IN"/>
          </a:p>
        </p:txBody>
      </p:sp>
      <p:sp>
        <p:nvSpPr>
          <p:cNvPr id="70" name="Text 7">
            <a:extLst>
              <a:ext uri="{FF2B5EF4-FFF2-40B4-BE49-F238E27FC236}">
                <a16:creationId xmlns:a16="http://schemas.microsoft.com/office/drawing/2014/main" id="{B0EADB64-186E-4177-CA8A-DC8E2369F6D3}"/>
              </a:ext>
            </a:extLst>
          </p:cNvPr>
          <p:cNvSpPr/>
          <p:nvPr/>
        </p:nvSpPr>
        <p:spPr>
          <a:xfrm>
            <a:off x="2911872" y="1393262"/>
            <a:ext cx="87217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On-premise</a:t>
            </a:r>
            <a:endParaRPr lang="en-US" sz="1200" dirty="0"/>
          </a:p>
        </p:txBody>
      </p:sp>
      <p:sp>
        <p:nvSpPr>
          <p:cNvPr id="72" name="Shape 8">
            <a:extLst>
              <a:ext uri="{FF2B5EF4-FFF2-40B4-BE49-F238E27FC236}">
                <a16:creationId xmlns:a16="http://schemas.microsoft.com/office/drawing/2014/main" id="{3CD378B0-F5EA-B2C4-A5D6-7F5BD3FC5A8C}"/>
              </a:ext>
            </a:extLst>
          </p:cNvPr>
          <p:cNvSpPr/>
          <p:nvPr/>
        </p:nvSpPr>
        <p:spPr>
          <a:xfrm>
            <a:off x="3822833" y="1436391"/>
            <a:ext cx="165100" cy="127000"/>
          </a:xfrm>
          <a:prstGeom prst="roundRect">
            <a:avLst>
              <a:gd name="adj" fmla="val 15000"/>
            </a:avLst>
          </a:prstGeom>
          <a:solidFill>
            <a:srgbClr val="FFFFFF"/>
          </a:solidFill>
          <a:ln w="12700">
            <a:solidFill>
              <a:srgbClr val="9AA5B1"/>
            </a:solidFill>
            <a:prstDash val="solid"/>
          </a:ln>
        </p:spPr>
        <p:txBody>
          <a:bodyPr/>
          <a:lstStyle/>
          <a:p>
            <a:endParaRPr lang="en-IN"/>
          </a:p>
        </p:txBody>
      </p:sp>
      <p:sp>
        <p:nvSpPr>
          <p:cNvPr id="74" name="Text 9">
            <a:extLst>
              <a:ext uri="{FF2B5EF4-FFF2-40B4-BE49-F238E27FC236}">
                <a16:creationId xmlns:a16="http://schemas.microsoft.com/office/drawing/2014/main" id="{E67E0F7B-4019-F3D2-C911-A56BAAE669E0}"/>
              </a:ext>
            </a:extLst>
          </p:cNvPr>
          <p:cNvSpPr/>
          <p:nvPr/>
        </p:nvSpPr>
        <p:spPr>
          <a:xfrm>
            <a:off x="4045083" y="1393262"/>
            <a:ext cx="6088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External</a:t>
            </a:r>
            <a:endParaRPr lang="en-US" sz="1200" dirty="0"/>
          </a:p>
        </p:txBody>
      </p:sp>
      <p:sp>
        <p:nvSpPr>
          <p:cNvPr id="76" name="Shape 10">
            <a:extLst>
              <a:ext uri="{FF2B5EF4-FFF2-40B4-BE49-F238E27FC236}">
                <a16:creationId xmlns:a16="http://schemas.microsoft.com/office/drawing/2014/main" id="{4F907179-5BC1-0298-EFE5-38DB25DA72FA}"/>
              </a:ext>
            </a:extLst>
          </p:cNvPr>
          <p:cNvSpPr/>
          <p:nvPr/>
        </p:nvSpPr>
        <p:spPr>
          <a:xfrm>
            <a:off x="4736571" y="1436391"/>
            <a:ext cx="165100" cy="127000"/>
          </a:xfrm>
          <a:prstGeom prst="roundRect">
            <a:avLst>
              <a:gd name="adj" fmla="val 15000"/>
            </a:avLst>
          </a:prstGeom>
          <a:solidFill>
            <a:srgbClr val="F5F7F9"/>
          </a:solidFill>
          <a:ln w="12700">
            <a:solidFill>
              <a:srgbClr val="6B7785"/>
            </a:solidFill>
            <a:prstDash val="dash"/>
          </a:ln>
        </p:spPr>
        <p:txBody>
          <a:bodyPr/>
          <a:lstStyle/>
          <a:p>
            <a:endParaRPr lang="en-IN"/>
          </a:p>
        </p:txBody>
      </p:sp>
      <p:sp>
        <p:nvSpPr>
          <p:cNvPr id="78" name="Text 11">
            <a:extLst>
              <a:ext uri="{FF2B5EF4-FFF2-40B4-BE49-F238E27FC236}">
                <a16:creationId xmlns:a16="http://schemas.microsoft.com/office/drawing/2014/main" id="{B9A61AA3-2333-F6EF-4F5D-9CE1248B3EAB}"/>
              </a:ext>
            </a:extLst>
          </p:cNvPr>
          <p:cNvSpPr/>
          <p:nvPr/>
        </p:nvSpPr>
        <p:spPr>
          <a:xfrm>
            <a:off x="4958821" y="1393262"/>
            <a:ext cx="6033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Planned</a:t>
            </a:r>
            <a:endParaRPr lang="en-US" sz="1200" dirty="0"/>
          </a:p>
        </p:txBody>
      </p:sp>
      <p:sp>
        <p:nvSpPr>
          <p:cNvPr id="80" name="Text 12">
            <a:extLst>
              <a:ext uri="{FF2B5EF4-FFF2-40B4-BE49-F238E27FC236}">
                <a16:creationId xmlns:a16="http://schemas.microsoft.com/office/drawing/2014/main" id="{060B6AF5-EA25-A29B-D257-B288F2BAC091}"/>
              </a:ext>
            </a:extLst>
          </p:cNvPr>
          <p:cNvSpPr/>
          <p:nvPr/>
        </p:nvSpPr>
        <p:spPr>
          <a:xfrm>
            <a:off x="2736850" y="1757457"/>
            <a:ext cx="2273300" cy="368300"/>
          </a:xfrm>
          <a:prstGeom prst="roundRect">
            <a:avLst>
              <a:gd name="adj" fmla="val 15517"/>
            </a:avLst>
          </a:prstGeom>
          <a:solidFill>
            <a:srgbClr val="DDF0EF"/>
          </a:solidFill>
          <a:ln w="12700">
            <a:solidFill>
              <a:srgbClr val="1C7293"/>
            </a:solidFill>
            <a:prstDash val="solid"/>
          </a:ln>
        </p:spPr>
        <p:txBody>
          <a:bodyPr wrap="square" lIns="0" tIns="0" rIns="0" bIns="0" rtlCol="0" anchor="ctr">
            <a:normAutofit/>
          </a:bodyPr>
          <a:lstStyle/>
          <a:p>
            <a:pPr marL="0" indent="0" algn="ctr">
              <a:lnSpc>
                <a:spcPts val="1820"/>
              </a:lnSpc>
              <a:buNone/>
            </a:pPr>
            <a:r>
              <a:rPr lang="en-US" sz="1300" b="1" dirty="0">
                <a:solidFill>
                  <a:srgbClr val="21295C"/>
                </a:solidFill>
                <a:latin typeface="Carlito" pitchFamily="34" charset="0"/>
                <a:ea typeface="Carlito" pitchFamily="34" charset="-122"/>
                <a:cs typeface="Carlito" pitchFamily="34" charset="-120"/>
              </a:rPr>
              <a:t>SAP Concur · invoices</a:t>
            </a:r>
            <a:endParaRPr lang="en-US" sz="1300" dirty="0"/>
          </a:p>
        </p:txBody>
      </p:sp>
      <p:sp>
        <p:nvSpPr>
          <p:cNvPr id="82" name="Shape 13">
            <a:extLst>
              <a:ext uri="{FF2B5EF4-FFF2-40B4-BE49-F238E27FC236}">
                <a16:creationId xmlns:a16="http://schemas.microsoft.com/office/drawing/2014/main" id="{31C8624D-6821-D6AC-C15F-1113D211969B}"/>
              </a:ext>
            </a:extLst>
          </p:cNvPr>
          <p:cNvSpPr/>
          <p:nvPr/>
        </p:nvSpPr>
        <p:spPr>
          <a:xfrm>
            <a:off x="2292350" y="2354357"/>
            <a:ext cx="3162300" cy="1574800"/>
          </a:xfrm>
          <a:prstGeom prst="roundRect">
            <a:avLst>
              <a:gd name="adj" fmla="val 4435"/>
            </a:avLst>
          </a:prstGeom>
          <a:solidFill>
            <a:srgbClr val="DCEAF4"/>
          </a:solidFill>
          <a:ln w="12700">
            <a:solidFill>
              <a:srgbClr val="065A82"/>
            </a:solidFill>
            <a:prstDash val="solid"/>
          </a:ln>
        </p:spPr>
        <p:txBody>
          <a:bodyPr/>
          <a:lstStyle/>
          <a:p>
            <a:endParaRPr lang="en-IN"/>
          </a:p>
        </p:txBody>
      </p:sp>
      <p:sp>
        <p:nvSpPr>
          <p:cNvPr id="84" name="Text 14">
            <a:extLst>
              <a:ext uri="{FF2B5EF4-FFF2-40B4-BE49-F238E27FC236}">
                <a16:creationId xmlns:a16="http://schemas.microsoft.com/office/drawing/2014/main" id="{84FBD360-D7DD-F511-949F-CF076DC78B6E}"/>
              </a:ext>
            </a:extLst>
          </p:cNvPr>
          <p:cNvSpPr/>
          <p:nvPr/>
        </p:nvSpPr>
        <p:spPr>
          <a:xfrm>
            <a:off x="2434590" y="2487707"/>
            <a:ext cx="2877820" cy="286941"/>
          </a:xfrm>
          <a:prstGeom prst="rect">
            <a:avLst/>
          </a:prstGeom>
          <a:noFill/>
          <a:ln/>
        </p:spPr>
        <p:txBody>
          <a:bodyPr wrap="square" lIns="0" tIns="0" rIns="0" bIns="0" rtlCol="0" anchor="t">
            <a:normAutofit/>
          </a:bodyPr>
          <a:lstStyle/>
          <a:p>
            <a:pPr marL="0" indent="0" algn="ctr">
              <a:lnSpc>
                <a:spcPts val="2074"/>
              </a:lnSpc>
              <a:buNone/>
            </a:pPr>
            <a:r>
              <a:rPr lang="en-US" sz="1481" b="1" dirty="0">
                <a:solidFill>
                  <a:srgbClr val="21295C"/>
                </a:solidFill>
                <a:latin typeface="Carlito" pitchFamily="34" charset="0"/>
                <a:ea typeface="Carlito" pitchFamily="34" charset="-122"/>
                <a:cs typeface="Carlito" pitchFamily="34" charset="-120"/>
              </a:rPr>
              <a:t>SAP S/4HANA</a:t>
            </a:r>
            <a:endParaRPr lang="en-US" sz="1481" dirty="0"/>
          </a:p>
        </p:txBody>
      </p:sp>
      <p:sp>
        <p:nvSpPr>
          <p:cNvPr id="86" name="Shape 15">
            <a:extLst>
              <a:ext uri="{FF2B5EF4-FFF2-40B4-BE49-F238E27FC236}">
                <a16:creationId xmlns:a16="http://schemas.microsoft.com/office/drawing/2014/main" id="{9FE94759-8B80-2D29-5953-C75FA71CF466}"/>
              </a:ext>
            </a:extLst>
          </p:cNvPr>
          <p:cNvSpPr/>
          <p:nvPr/>
        </p:nvSpPr>
        <p:spPr>
          <a:xfrm>
            <a:off x="2476500" y="2812748"/>
            <a:ext cx="2794000" cy="285353"/>
          </a:xfrm>
          <a:prstGeom prst="roundRect">
            <a:avLst>
              <a:gd name="adj" fmla="val 13352"/>
            </a:avLst>
          </a:prstGeom>
          <a:solidFill>
            <a:srgbClr val="F5F9FC"/>
          </a:solidFill>
          <a:ln/>
        </p:spPr>
        <p:txBody>
          <a:bodyPr/>
          <a:lstStyle/>
          <a:p>
            <a:endParaRPr lang="en-IN"/>
          </a:p>
        </p:txBody>
      </p:sp>
      <p:sp>
        <p:nvSpPr>
          <p:cNvPr id="88" name="Text 16">
            <a:extLst>
              <a:ext uri="{FF2B5EF4-FFF2-40B4-BE49-F238E27FC236}">
                <a16:creationId xmlns:a16="http://schemas.microsoft.com/office/drawing/2014/main" id="{711F221E-2595-25EA-0C5C-E96589210FDD}"/>
              </a:ext>
            </a:extLst>
          </p:cNvPr>
          <p:cNvSpPr/>
          <p:nvPr/>
        </p:nvSpPr>
        <p:spPr>
          <a:xfrm>
            <a:off x="2513076" y="2850848"/>
            <a:ext cx="2720848" cy="234553"/>
          </a:xfrm>
          <a:prstGeom prst="rect">
            <a:avLst/>
          </a:prstGeom>
          <a:noFill/>
          <a:ln/>
        </p:spPr>
        <p:txBody>
          <a:bodyPr wrap="square" lIns="0" tIns="0" rIns="0" bIns="0" rtlCol="0" anchor="t">
            <a:normAutofit/>
          </a:bodyPr>
          <a:lstStyle/>
          <a:p>
            <a:pPr marL="0" indent="0" algn="ctr">
              <a:lnSpc>
                <a:spcPts val="1675"/>
              </a:lnSpc>
              <a:buNone/>
            </a:pPr>
            <a:r>
              <a:rPr lang="en-US" sz="1196" dirty="0">
                <a:solidFill>
                  <a:srgbClr val="3D4A5C"/>
                </a:solidFill>
                <a:latin typeface="Carlito" pitchFamily="34" charset="0"/>
                <a:ea typeface="Carlito" pitchFamily="34" charset="-122"/>
                <a:cs typeface="Carlito" pitchFamily="34" charset="-120"/>
              </a:rPr>
              <a:t>FI and CO · finance</a:t>
            </a:r>
            <a:endParaRPr lang="en-US" sz="1196" dirty="0"/>
          </a:p>
        </p:txBody>
      </p:sp>
      <p:sp>
        <p:nvSpPr>
          <p:cNvPr id="90" name="Shape 17">
            <a:extLst>
              <a:ext uri="{FF2B5EF4-FFF2-40B4-BE49-F238E27FC236}">
                <a16:creationId xmlns:a16="http://schemas.microsoft.com/office/drawing/2014/main" id="{C927117A-DF59-1B3B-8533-A7F99D0F55B2}"/>
              </a:ext>
            </a:extLst>
          </p:cNvPr>
          <p:cNvSpPr/>
          <p:nvPr/>
        </p:nvSpPr>
        <p:spPr>
          <a:xfrm>
            <a:off x="2476500" y="3161601"/>
            <a:ext cx="2794000" cy="285353"/>
          </a:xfrm>
          <a:prstGeom prst="roundRect">
            <a:avLst>
              <a:gd name="adj" fmla="val 13352"/>
            </a:avLst>
          </a:prstGeom>
          <a:solidFill>
            <a:srgbClr val="F5F9FC"/>
          </a:solidFill>
          <a:ln/>
        </p:spPr>
        <p:txBody>
          <a:bodyPr/>
          <a:lstStyle/>
          <a:p>
            <a:endParaRPr lang="en-IN"/>
          </a:p>
        </p:txBody>
      </p:sp>
      <p:sp>
        <p:nvSpPr>
          <p:cNvPr id="92" name="Text 18">
            <a:extLst>
              <a:ext uri="{FF2B5EF4-FFF2-40B4-BE49-F238E27FC236}">
                <a16:creationId xmlns:a16="http://schemas.microsoft.com/office/drawing/2014/main" id="{41791EBB-7606-2937-E87C-F18CE3CD1796}"/>
              </a:ext>
            </a:extLst>
          </p:cNvPr>
          <p:cNvSpPr/>
          <p:nvPr/>
        </p:nvSpPr>
        <p:spPr>
          <a:xfrm>
            <a:off x="2513076" y="3199701"/>
            <a:ext cx="2720848" cy="234553"/>
          </a:xfrm>
          <a:prstGeom prst="rect">
            <a:avLst/>
          </a:prstGeom>
          <a:noFill/>
          <a:ln/>
        </p:spPr>
        <p:txBody>
          <a:bodyPr wrap="square" lIns="0" tIns="0" rIns="0" bIns="0" rtlCol="0" anchor="t">
            <a:normAutofit/>
          </a:bodyPr>
          <a:lstStyle/>
          <a:p>
            <a:pPr marL="0" indent="0" algn="ctr">
              <a:lnSpc>
                <a:spcPts val="1675"/>
              </a:lnSpc>
              <a:buNone/>
            </a:pPr>
            <a:r>
              <a:rPr lang="en-US" sz="1196" dirty="0">
                <a:solidFill>
                  <a:srgbClr val="3D4A5C"/>
                </a:solidFill>
                <a:latin typeface="Carlito" pitchFamily="34" charset="0"/>
                <a:ea typeface="Carlito" pitchFamily="34" charset="-122"/>
                <a:cs typeface="Carlito" pitchFamily="34" charset="-120"/>
              </a:rPr>
              <a:t>SD · sales</a:t>
            </a:r>
            <a:endParaRPr lang="en-US" sz="1196" dirty="0"/>
          </a:p>
        </p:txBody>
      </p:sp>
      <p:sp>
        <p:nvSpPr>
          <p:cNvPr id="94" name="Shape 19">
            <a:extLst>
              <a:ext uri="{FF2B5EF4-FFF2-40B4-BE49-F238E27FC236}">
                <a16:creationId xmlns:a16="http://schemas.microsoft.com/office/drawing/2014/main" id="{340D80E1-0E56-8947-DD8C-2E390A75C1AB}"/>
              </a:ext>
            </a:extLst>
          </p:cNvPr>
          <p:cNvSpPr/>
          <p:nvPr/>
        </p:nvSpPr>
        <p:spPr>
          <a:xfrm>
            <a:off x="2476500" y="3510454"/>
            <a:ext cx="2794000" cy="285353"/>
          </a:xfrm>
          <a:prstGeom prst="roundRect">
            <a:avLst>
              <a:gd name="adj" fmla="val 13352"/>
            </a:avLst>
          </a:prstGeom>
          <a:solidFill>
            <a:srgbClr val="F5F9FC"/>
          </a:solidFill>
          <a:ln/>
        </p:spPr>
        <p:txBody>
          <a:bodyPr/>
          <a:lstStyle/>
          <a:p>
            <a:endParaRPr lang="en-IN"/>
          </a:p>
        </p:txBody>
      </p:sp>
      <p:sp>
        <p:nvSpPr>
          <p:cNvPr id="96" name="Text 20">
            <a:extLst>
              <a:ext uri="{FF2B5EF4-FFF2-40B4-BE49-F238E27FC236}">
                <a16:creationId xmlns:a16="http://schemas.microsoft.com/office/drawing/2014/main" id="{007DC625-F57B-F9AF-23F5-1F813FED3E39}"/>
              </a:ext>
            </a:extLst>
          </p:cNvPr>
          <p:cNvSpPr/>
          <p:nvPr/>
        </p:nvSpPr>
        <p:spPr>
          <a:xfrm>
            <a:off x="2513076" y="3548554"/>
            <a:ext cx="2720848" cy="234553"/>
          </a:xfrm>
          <a:prstGeom prst="rect">
            <a:avLst/>
          </a:prstGeom>
          <a:noFill/>
          <a:ln/>
        </p:spPr>
        <p:txBody>
          <a:bodyPr wrap="square" lIns="0" tIns="0" rIns="0" bIns="0" rtlCol="0" anchor="t">
            <a:normAutofit/>
          </a:bodyPr>
          <a:lstStyle/>
          <a:p>
            <a:pPr marL="0" indent="0" algn="ctr">
              <a:lnSpc>
                <a:spcPts val="1675"/>
              </a:lnSpc>
              <a:buNone/>
            </a:pPr>
            <a:r>
              <a:rPr lang="en-US" sz="1196" dirty="0">
                <a:solidFill>
                  <a:srgbClr val="3D4A5C"/>
                </a:solidFill>
                <a:latin typeface="Carlito" pitchFamily="34" charset="0"/>
                <a:ea typeface="Carlito" pitchFamily="34" charset="-122"/>
                <a:cs typeface="Carlito" pitchFamily="34" charset="-120"/>
              </a:rPr>
              <a:t>MM · purchasing, inventory</a:t>
            </a:r>
            <a:endParaRPr lang="en-US" sz="1196" dirty="0"/>
          </a:p>
        </p:txBody>
      </p:sp>
      <p:sp>
        <p:nvSpPr>
          <p:cNvPr id="98" name="Shape 21">
            <a:extLst>
              <a:ext uri="{FF2B5EF4-FFF2-40B4-BE49-F238E27FC236}">
                <a16:creationId xmlns:a16="http://schemas.microsoft.com/office/drawing/2014/main" id="{0F66FE00-31E2-2920-19AA-8164AEBFD073}"/>
              </a:ext>
            </a:extLst>
          </p:cNvPr>
          <p:cNvSpPr/>
          <p:nvPr/>
        </p:nvSpPr>
        <p:spPr>
          <a:xfrm>
            <a:off x="768350" y="2544857"/>
            <a:ext cx="1193800" cy="520700"/>
          </a:xfrm>
          <a:prstGeom prst="roundRect">
            <a:avLst>
              <a:gd name="adj" fmla="val 10976"/>
            </a:avLst>
          </a:prstGeom>
          <a:solidFill>
            <a:srgbClr val="FFFFFF"/>
          </a:solidFill>
          <a:ln w="12700">
            <a:solidFill>
              <a:srgbClr val="9AA5B1"/>
            </a:solidFill>
            <a:prstDash val="solid"/>
          </a:ln>
        </p:spPr>
        <p:txBody>
          <a:bodyPr/>
          <a:lstStyle/>
          <a:p>
            <a:endParaRPr lang="en-IN"/>
          </a:p>
        </p:txBody>
      </p:sp>
      <p:sp>
        <p:nvSpPr>
          <p:cNvPr id="100" name="Text 22">
            <a:extLst>
              <a:ext uri="{FF2B5EF4-FFF2-40B4-BE49-F238E27FC236}">
                <a16:creationId xmlns:a16="http://schemas.microsoft.com/office/drawing/2014/main" id="{590CF654-BFEC-69DD-253C-417C2DCE7A38}"/>
              </a:ext>
            </a:extLst>
          </p:cNvPr>
          <p:cNvSpPr/>
          <p:nvPr/>
        </p:nvSpPr>
        <p:spPr>
          <a:xfrm>
            <a:off x="863600" y="2602007"/>
            <a:ext cx="1054100" cy="236736"/>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21295C"/>
                </a:solidFill>
                <a:latin typeface="Carlito" pitchFamily="34" charset="0"/>
                <a:ea typeface="Carlito" pitchFamily="34" charset="-122"/>
                <a:cs typeface="Carlito" pitchFamily="34" charset="-120"/>
              </a:rPr>
              <a:t>Citi Bank</a:t>
            </a:r>
            <a:endParaRPr lang="en-US" sz="1194" dirty="0"/>
          </a:p>
        </p:txBody>
      </p:sp>
      <p:sp>
        <p:nvSpPr>
          <p:cNvPr id="102" name="Text 23">
            <a:extLst>
              <a:ext uri="{FF2B5EF4-FFF2-40B4-BE49-F238E27FC236}">
                <a16:creationId xmlns:a16="http://schemas.microsoft.com/office/drawing/2014/main" id="{4E2EE077-8C45-CFCF-27E7-56D1546BC8F0}"/>
              </a:ext>
            </a:extLst>
          </p:cNvPr>
          <p:cNvSpPr/>
          <p:nvPr/>
        </p:nvSpPr>
        <p:spPr>
          <a:xfrm>
            <a:off x="863600" y="2813343"/>
            <a:ext cx="1054100" cy="220464"/>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5A6677"/>
                </a:solidFill>
                <a:latin typeface="Carlito" pitchFamily="34" charset="0"/>
                <a:ea typeface="Carlito" pitchFamily="34" charset="-122"/>
                <a:cs typeface="Carlito" pitchFamily="34" charset="-120"/>
              </a:rPr>
              <a:t>payments</a:t>
            </a:r>
            <a:endParaRPr lang="en-US" sz="1121" dirty="0"/>
          </a:p>
        </p:txBody>
      </p:sp>
      <p:sp>
        <p:nvSpPr>
          <p:cNvPr id="104" name="Shape 24">
            <a:extLst>
              <a:ext uri="{FF2B5EF4-FFF2-40B4-BE49-F238E27FC236}">
                <a16:creationId xmlns:a16="http://schemas.microsoft.com/office/drawing/2014/main" id="{4A6D7253-DAA6-01A4-2CCF-E235CAD36699}"/>
              </a:ext>
            </a:extLst>
          </p:cNvPr>
          <p:cNvSpPr/>
          <p:nvPr/>
        </p:nvSpPr>
        <p:spPr>
          <a:xfrm>
            <a:off x="768350" y="3243357"/>
            <a:ext cx="1193800" cy="520700"/>
          </a:xfrm>
          <a:prstGeom prst="roundRect">
            <a:avLst>
              <a:gd name="adj" fmla="val 10976"/>
            </a:avLst>
          </a:prstGeom>
          <a:solidFill>
            <a:srgbClr val="FFFFFF"/>
          </a:solidFill>
          <a:ln w="12700">
            <a:solidFill>
              <a:srgbClr val="9AA5B1"/>
            </a:solidFill>
            <a:prstDash val="solid"/>
          </a:ln>
        </p:spPr>
        <p:txBody>
          <a:bodyPr/>
          <a:lstStyle/>
          <a:p>
            <a:endParaRPr lang="en-IN"/>
          </a:p>
        </p:txBody>
      </p:sp>
      <p:sp>
        <p:nvSpPr>
          <p:cNvPr id="106" name="Text 25">
            <a:extLst>
              <a:ext uri="{FF2B5EF4-FFF2-40B4-BE49-F238E27FC236}">
                <a16:creationId xmlns:a16="http://schemas.microsoft.com/office/drawing/2014/main" id="{2DE2F57F-C76B-085F-E1DF-CDFA3A03987B}"/>
              </a:ext>
            </a:extLst>
          </p:cNvPr>
          <p:cNvSpPr/>
          <p:nvPr/>
        </p:nvSpPr>
        <p:spPr>
          <a:xfrm>
            <a:off x="863600" y="3300507"/>
            <a:ext cx="1054100" cy="236736"/>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21295C"/>
                </a:solidFill>
                <a:latin typeface="Carlito" pitchFamily="34" charset="0"/>
                <a:ea typeface="Carlito" pitchFamily="34" charset="-122"/>
                <a:cs typeface="Carlito" pitchFamily="34" charset="-120"/>
              </a:rPr>
              <a:t>ESS HRIS</a:t>
            </a:r>
            <a:endParaRPr lang="en-US" sz="1194" dirty="0"/>
          </a:p>
        </p:txBody>
      </p:sp>
      <p:sp>
        <p:nvSpPr>
          <p:cNvPr id="108" name="Text 26">
            <a:extLst>
              <a:ext uri="{FF2B5EF4-FFF2-40B4-BE49-F238E27FC236}">
                <a16:creationId xmlns:a16="http://schemas.microsoft.com/office/drawing/2014/main" id="{35CDD5E3-0CF1-9425-D161-A6AB172F07CE}"/>
              </a:ext>
            </a:extLst>
          </p:cNvPr>
          <p:cNvSpPr/>
          <p:nvPr/>
        </p:nvSpPr>
        <p:spPr>
          <a:xfrm>
            <a:off x="863600" y="3511843"/>
            <a:ext cx="1054100" cy="220464"/>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5A6677"/>
                </a:solidFill>
                <a:latin typeface="Carlito" pitchFamily="34" charset="0"/>
                <a:ea typeface="Carlito" pitchFamily="34" charset="-122"/>
                <a:cs typeface="Carlito" pitchFamily="34" charset="-120"/>
              </a:rPr>
              <a:t>HR data</a:t>
            </a:r>
            <a:endParaRPr lang="en-US" sz="1121" dirty="0"/>
          </a:p>
        </p:txBody>
      </p:sp>
      <p:sp>
        <p:nvSpPr>
          <p:cNvPr id="110" name="Text 27">
            <a:extLst>
              <a:ext uri="{FF2B5EF4-FFF2-40B4-BE49-F238E27FC236}">
                <a16:creationId xmlns:a16="http://schemas.microsoft.com/office/drawing/2014/main" id="{0DD0EFAA-FA32-5E4D-4DBF-2D56FFC0216E}"/>
              </a:ext>
            </a:extLst>
          </p:cNvPr>
          <p:cNvSpPr/>
          <p:nvPr/>
        </p:nvSpPr>
        <p:spPr>
          <a:xfrm>
            <a:off x="5848350" y="2354357"/>
            <a:ext cx="1765300" cy="317500"/>
          </a:xfrm>
          <a:prstGeom prst="roundRect">
            <a:avLst>
              <a:gd name="adj" fmla="val 18000"/>
            </a:avLst>
          </a:prstGeom>
          <a:solidFill>
            <a:srgbClr val="F7E6D9"/>
          </a:solidFill>
          <a:ln w="12700">
            <a:solidFill>
              <a:srgbClr val="B5541E"/>
            </a:solidFill>
            <a:prstDash val="solid"/>
          </a:ln>
        </p:spPr>
        <p:txBody>
          <a:bodyPr wrap="square" lIns="0" tIns="0" rIns="0" bIns="0" rtlCol="0" anchor="ctr">
            <a:normAutofit/>
          </a:bodyPr>
          <a:lstStyle/>
          <a:p>
            <a:pPr marL="0" indent="0" algn="ctr">
              <a:lnSpc>
                <a:spcPts val="1680"/>
              </a:lnSpc>
              <a:buNone/>
            </a:pPr>
            <a:r>
              <a:rPr lang="en-US" sz="1200" dirty="0">
                <a:solidFill>
                  <a:srgbClr val="21295C"/>
                </a:solidFill>
                <a:latin typeface="Carlito" pitchFamily="34" charset="0"/>
                <a:ea typeface="Carlito" pitchFamily="34" charset="-122"/>
                <a:cs typeface="Carlito" pitchFamily="34" charset="-120"/>
              </a:rPr>
              <a:t>SLSS server</a:t>
            </a:r>
            <a:endParaRPr lang="en-US" sz="1200" dirty="0"/>
          </a:p>
        </p:txBody>
      </p:sp>
      <p:sp>
        <p:nvSpPr>
          <p:cNvPr id="112" name="Text 28">
            <a:extLst>
              <a:ext uri="{FF2B5EF4-FFF2-40B4-BE49-F238E27FC236}">
                <a16:creationId xmlns:a16="http://schemas.microsoft.com/office/drawing/2014/main" id="{E5BC1A86-7898-0F34-2EAC-25B130C65A69}"/>
              </a:ext>
            </a:extLst>
          </p:cNvPr>
          <p:cNvSpPr/>
          <p:nvPr/>
        </p:nvSpPr>
        <p:spPr>
          <a:xfrm>
            <a:off x="5848350" y="2811557"/>
            <a:ext cx="1765300" cy="317500"/>
          </a:xfrm>
          <a:prstGeom prst="roundRect">
            <a:avLst>
              <a:gd name="adj" fmla="val 18000"/>
            </a:avLst>
          </a:prstGeom>
          <a:solidFill>
            <a:srgbClr val="F7E6D9"/>
          </a:solidFill>
          <a:ln w="12700">
            <a:solidFill>
              <a:srgbClr val="B5541E"/>
            </a:solidFill>
            <a:prstDash val="solid"/>
          </a:ln>
        </p:spPr>
        <p:txBody>
          <a:bodyPr wrap="square" lIns="0" tIns="0" rIns="0" bIns="0" rtlCol="0" anchor="ctr">
            <a:normAutofit/>
          </a:bodyPr>
          <a:lstStyle/>
          <a:p>
            <a:pPr marL="0" indent="0" algn="ctr">
              <a:lnSpc>
                <a:spcPts val="1680"/>
              </a:lnSpc>
              <a:buNone/>
            </a:pPr>
            <a:r>
              <a:rPr lang="en-US" sz="1200" dirty="0">
                <a:solidFill>
                  <a:srgbClr val="21295C"/>
                </a:solidFill>
                <a:latin typeface="Carlito" pitchFamily="34" charset="0"/>
                <a:ea typeface="Carlito" pitchFamily="34" charset="-122"/>
                <a:cs typeface="Carlito" pitchFamily="34" charset="-120"/>
              </a:rPr>
              <a:t>OLAP server</a:t>
            </a:r>
            <a:endParaRPr lang="en-US" sz="1200" dirty="0"/>
          </a:p>
        </p:txBody>
      </p:sp>
      <p:sp>
        <p:nvSpPr>
          <p:cNvPr id="114" name="Text 29">
            <a:extLst>
              <a:ext uri="{FF2B5EF4-FFF2-40B4-BE49-F238E27FC236}">
                <a16:creationId xmlns:a16="http://schemas.microsoft.com/office/drawing/2014/main" id="{4B01583C-2386-D914-B800-667A7DE80578}"/>
              </a:ext>
            </a:extLst>
          </p:cNvPr>
          <p:cNvSpPr/>
          <p:nvPr/>
        </p:nvSpPr>
        <p:spPr>
          <a:xfrm>
            <a:off x="5848350" y="3268757"/>
            <a:ext cx="1765300" cy="317500"/>
          </a:xfrm>
          <a:prstGeom prst="roundRect">
            <a:avLst>
              <a:gd name="adj" fmla="val 18000"/>
            </a:avLst>
          </a:prstGeom>
          <a:solidFill>
            <a:srgbClr val="DCEAF4"/>
          </a:solidFill>
          <a:ln w="12700">
            <a:solidFill>
              <a:srgbClr val="065A82"/>
            </a:solidFill>
            <a:prstDash val="solid"/>
          </a:ln>
        </p:spPr>
        <p:txBody>
          <a:bodyPr wrap="square" lIns="0" tIns="0" rIns="0" bIns="0" rtlCol="0" anchor="ctr">
            <a:normAutofit/>
          </a:bodyPr>
          <a:lstStyle/>
          <a:p>
            <a:pPr marL="0" indent="0" algn="ctr">
              <a:lnSpc>
                <a:spcPts val="1680"/>
              </a:lnSpc>
              <a:buNone/>
            </a:pPr>
            <a:r>
              <a:rPr lang="en-US" sz="1200" dirty="0">
                <a:solidFill>
                  <a:srgbClr val="21295C"/>
                </a:solidFill>
                <a:latin typeface="Carlito" pitchFamily="34" charset="0"/>
                <a:ea typeface="Carlito" pitchFamily="34" charset="-122"/>
                <a:cs typeface="Carlito" pitchFamily="34" charset="-120"/>
              </a:rPr>
              <a:t>Azure Blob → cube</a:t>
            </a:r>
            <a:endParaRPr lang="en-US" sz="1200" dirty="0"/>
          </a:p>
        </p:txBody>
      </p:sp>
      <p:sp>
        <p:nvSpPr>
          <p:cNvPr id="116" name="Text 30">
            <a:extLst>
              <a:ext uri="{FF2B5EF4-FFF2-40B4-BE49-F238E27FC236}">
                <a16:creationId xmlns:a16="http://schemas.microsoft.com/office/drawing/2014/main" id="{410B419A-5016-71A7-1DEA-83F5E6C1F1CF}"/>
              </a:ext>
            </a:extLst>
          </p:cNvPr>
          <p:cNvSpPr/>
          <p:nvPr/>
        </p:nvSpPr>
        <p:spPr>
          <a:xfrm>
            <a:off x="5848350" y="3725957"/>
            <a:ext cx="1765300" cy="317500"/>
          </a:xfrm>
          <a:prstGeom prst="roundRect">
            <a:avLst>
              <a:gd name="adj" fmla="val 18000"/>
            </a:avLst>
          </a:prstGeom>
          <a:solidFill>
            <a:srgbClr val="FFFFFF"/>
          </a:solidFill>
          <a:ln w="12700">
            <a:solidFill>
              <a:srgbClr val="9AA5B1"/>
            </a:solidFill>
            <a:prstDash val="solid"/>
          </a:ln>
        </p:spPr>
        <p:txBody>
          <a:bodyPr wrap="square" lIns="0" tIns="0" rIns="0" bIns="0" rtlCol="0" anchor="ctr">
            <a:normAutofit/>
          </a:bodyPr>
          <a:lstStyle/>
          <a:p>
            <a:pPr marL="0" indent="0" algn="ctr">
              <a:lnSpc>
                <a:spcPts val="1680"/>
              </a:lnSpc>
              <a:buNone/>
            </a:pPr>
            <a:r>
              <a:rPr lang="en-US" sz="1200" dirty="0">
                <a:solidFill>
                  <a:srgbClr val="21295C"/>
                </a:solidFill>
                <a:latin typeface="Carlito" pitchFamily="34" charset="0"/>
                <a:ea typeface="Carlito" pitchFamily="34" charset="-122"/>
                <a:cs typeface="Carlito" pitchFamily="34" charset="-120"/>
              </a:rPr>
              <a:t>Excel pivot on PCs</a:t>
            </a:r>
            <a:endParaRPr lang="en-US" sz="1200" dirty="0"/>
          </a:p>
        </p:txBody>
      </p:sp>
      <p:sp>
        <p:nvSpPr>
          <p:cNvPr id="118" name="Text 31">
            <a:extLst>
              <a:ext uri="{FF2B5EF4-FFF2-40B4-BE49-F238E27FC236}">
                <a16:creationId xmlns:a16="http://schemas.microsoft.com/office/drawing/2014/main" id="{313D3E20-29EF-D289-77E7-95127A8437DC}"/>
              </a:ext>
            </a:extLst>
          </p:cNvPr>
          <p:cNvSpPr/>
          <p:nvPr/>
        </p:nvSpPr>
        <p:spPr>
          <a:xfrm>
            <a:off x="5815330" y="4087907"/>
            <a:ext cx="1831340"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5A6677"/>
                </a:solidFill>
                <a:latin typeface="Carlito" pitchFamily="34" charset="0"/>
                <a:ea typeface="Carlito" pitchFamily="34" charset="-122"/>
                <a:cs typeface="Carlito" pitchFamily="34" charset="-120"/>
              </a:rPr>
              <a:t>sales analytics only</a:t>
            </a:r>
            <a:endParaRPr lang="en-US" sz="1200" dirty="0"/>
          </a:p>
        </p:txBody>
      </p:sp>
      <p:sp>
        <p:nvSpPr>
          <p:cNvPr id="120" name="Text 32">
            <a:extLst>
              <a:ext uri="{FF2B5EF4-FFF2-40B4-BE49-F238E27FC236}">
                <a16:creationId xmlns:a16="http://schemas.microsoft.com/office/drawing/2014/main" id="{169490E2-7981-DC0E-6256-E757035B9C0C}"/>
              </a:ext>
            </a:extLst>
          </p:cNvPr>
          <p:cNvSpPr/>
          <p:nvPr/>
        </p:nvSpPr>
        <p:spPr>
          <a:xfrm>
            <a:off x="768350" y="4195857"/>
            <a:ext cx="4686300" cy="419100"/>
          </a:xfrm>
          <a:prstGeom prst="roundRect">
            <a:avLst>
              <a:gd name="adj" fmla="val 13636"/>
            </a:avLst>
          </a:prstGeom>
          <a:solidFill>
            <a:srgbClr val="DCEAF4"/>
          </a:solidFill>
          <a:ln w="12700">
            <a:solidFill>
              <a:srgbClr val="065A82"/>
            </a:solidFill>
            <a:prstDash val="solid"/>
          </a:ln>
        </p:spPr>
        <p:txBody>
          <a:bodyPr wrap="square" lIns="0" tIns="0" rIns="0" bIns="0" rtlCol="0" anchor="ctr">
            <a:normAutofit/>
          </a:bodyPr>
          <a:lstStyle/>
          <a:p>
            <a:pPr marL="0" indent="0" algn="ctr">
              <a:lnSpc>
                <a:spcPts val="1820"/>
              </a:lnSpc>
              <a:buNone/>
            </a:pPr>
            <a:r>
              <a:rPr lang="en-US" sz="1300" b="1" dirty="0">
                <a:solidFill>
                  <a:srgbClr val="21295C"/>
                </a:solidFill>
                <a:latin typeface="Carlito" pitchFamily="34" charset="0"/>
                <a:ea typeface="Carlito" pitchFamily="34" charset="-122"/>
                <a:cs typeface="Carlito" pitchFamily="34" charset="-120"/>
              </a:rPr>
              <a:t>DataSpider middleware</a:t>
            </a:r>
            <a:r>
              <a:rPr lang="en-US" sz="1300" dirty="0">
                <a:solidFill>
                  <a:srgbClr val="21295C"/>
                </a:solidFill>
                <a:latin typeface="Carlito" pitchFamily="34" charset="0"/>
                <a:ea typeface="Carlito" pitchFamily="34" charset="-122"/>
                <a:cs typeface="Carlito" pitchFamily="34" charset="-120"/>
              </a:rPr>
              <a:t> · Azure VM · all other SAP interfaces</a:t>
            </a:r>
            <a:endParaRPr lang="en-US" sz="1300" dirty="0"/>
          </a:p>
        </p:txBody>
      </p:sp>
      <p:sp>
        <p:nvSpPr>
          <p:cNvPr id="122" name="Shape 33">
            <a:extLst>
              <a:ext uri="{FF2B5EF4-FFF2-40B4-BE49-F238E27FC236}">
                <a16:creationId xmlns:a16="http://schemas.microsoft.com/office/drawing/2014/main" id="{E1E426F2-6264-7C62-77C4-CCD8FEDB4C48}"/>
              </a:ext>
            </a:extLst>
          </p:cNvPr>
          <p:cNvSpPr/>
          <p:nvPr/>
        </p:nvSpPr>
        <p:spPr>
          <a:xfrm>
            <a:off x="768350" y="4957857"/>
            <a:ext cx="1384300" cy="622300"/>
          </a:xfrm>
          <a:prstGeom prst="roundRect">
            <a:avLst>
              <a:gd name="adj" fmla="val 9184"/>
            </a:avLst>
          </a:prstGeom>
          <a:solidFill>
            <a:srgbClr val="DCEAF4"/>
          </a:solidFill>
          <a:ln w="12700">
            <a:solidFill>
              <a:srgbClr val="065A82"/>
            </a:solidFill>
            <a:prstDash val="solid"/>
          </a:ln>
        </p:spPr>
        <p:txBody>
          <a:bodyPr/>
          <a:lstStyle/>
          <a:p>
            <a:endParaRPr lang="en-IN"/>
          </a:p>
        </p:txBody>
      </p:sp>
      <p:sp>
        <p:nvSpPr>
          <p:cNvPr id="124" name="Text 34">
            <a:extLst>
              <a:ext uri="{FF2B5EF4-FFF2-40B4-BE49-F238E27FC236}">
                <a16:creationId xmlns:a16="http://schemas.microsoft.com/office/drawing/2014/main" id="{54E12092-D6E6-7906-0224-8674BE30232A}"/>
              </a:ext>
            </a:extLst>
          </p:cNvPr>
          <p:cNvSpPr/>
          <p:nvPr/>
        </p:nvSpPr>
        <p:spPr>
          <a:xfrm>
            <a:off x="863600" y="5046757"/>
            <a:ext cx="12446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1295C"/>
                </a:solidFill>
                <a:latin typeface="Carlito" pitchFamily="34" charset="0"/>
                <a:ea typeface="Carlito" pitchFamily="34" charset="-122"/>
                <a:cs typeface="Carlito" pitchFamily="34" charset="-120"/>
              </a:rPr>
              <a:t>HTMS portal</a:t>
            </a:r>
            <a:endParaRPr lang="en-US" sz="1300" dirty="0"/>
          </a:p>
        </p:txBody>
      </p:sp>
      <p:sp>
        <p:nvSpPr>
          <p:cNvPr id="126" name="Text 35">
            <a:extLst>
              <a:ext uri="{FF2B5EF4-FFF2-40B4-BE49-F238E27FC236}">
                <a16:creationId xmlns:a16="http://schemas.microsoft.com/office/drawing/2014/main" id="{526D7F30-0A9B-1A83-B0F6-106D1E807176}"/>
              </a:ext>
            </a:extLst>
          </p:cNvPr>
          <p:cNvSpPr/>
          <p:nvPr/>
        </p:nvSpPr>
        <p:spPr>
          <a:xfrm>
            <a:off x="863600" y="5277875"/>
            <a:ext cx="1244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sales terminals</a:t>
            </a:r>
            <a:endParaRPr lang="en-US" sz="1200" dirty="0"/>
          </a:p>
        </p:txBody>
      </p:sp>
      <p:sp>
        <p:nvSpPr>
          <p:cNvPr id="128" name="Shape 36">
            <a:extLst>
              <a:ext uri="{FF2B5EF4-FFF2-40B4-BE49-F238E27FC236}">
                <a16:creationId xmlns:a16="http://schemas.microsoft.com/office/drawing/2014/main" id="{16F92EF1-F01A-7DEA-5D83-B10C48E0377B}"/>
              </a:ext>
            </a:extLst>
          </p:cNvPr>
          <p:cNvSpPr/>
          <p:nvPr/>
        </p:nvSpPr>
        <p:spPr>
          <a:xfrm>
            <a:off x="2419350" y="4957857"/>
            <a:ext cx="1384300" cy="622300"/>
          </a:xfrm>
          <a:prstGeom prst="roundRect">
            <a:avLst>
              <a:gd name="adj" fmla="val 9184"/>
            </a:avLst>
          </a:prstGeom>
          <a:solidFill>
            <a:srgbClr val="DDF0EF"/>
          </a:solidFill>
          <a:ln w="12700">
            <a:solidFill>
              <a:srgbClr val="1C7293"/>
            </a:solidFill>
            <a:prstDash val="solid"/>
          </a:ln>
        </p:spPr>
        <p:txBody>
          <a:bodyPr/>
          <a:lstStyle/>
          <a:p>
            <a:endParaRPr lang="en-IN"/>
          </a:p>
        </p:txBody>
      </p:sp>
      <p:sp>
        <p:nvSpPr>
          <p:cNvPr id="130" name="Text 37">
            <a:extLst>
              <a:ext uri="{FF2B5EF4-FFF2-40B4-BE49-F238E27FC236}">
                <a16:creationId xmlns:a16="http://schemas.microsoft.com/office/drawing/2014/main" id="{342E47A1-C852-8685-B12D-C6728C955126}"/>
              </a:ext>
            </a:extLst>
          </p:cNvPr>
          <p:cNvSpPr/>
          <p:nvPr/>
        </p:nvSpPr>
        <p:spPr>
          <a:xfrm>
            <a:off x="2514600" y="5046757"/>
            <a:ext cx="12446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1295C"/>
                </a:solidFill>
                <a:latin typeface="Carlito" pitchFamily="34" charset="0"/>
                <a:ea typeface="Carlito" pitchFamily="34" charset="-122"/>
                <a:cs typeface="Carlito" pitchFamily="34" charset="-120"/>
              </a:rPr>
              <a:t>Jedox</a:t>
            </a:r>
            <a:endParaRPr lang="en-US" sz="1300" dirty="0"/>
          </a:p>
        </p:txBody>
      </p:sp>
      <p:sp>
        <p:nvSpPr>
          <p:cNvPr id="132" name="Text 38">
            <a:extLst>
              <a:ext uri="{FF2B5EF4-FFF2-40B4-BE49-F238E27FC236}">
                <a16:creationId xmlns:a16="http://schemas.microsoft.com/office/drawing/2014/main" id="{9DBD66B5-1BE3-DDA1-515E-C6ADB93D8610}"/>
              </a:ext>
            </a:extLst>
          </p:cNvPr>
          <p:cNvSpPr/>
          <p:nvPr/>
        </p:nvSpPr>
        <p:spPr>
          <a:xfrm>
            <a:off x="2514600" y="5277875"/>
            <a:ext cx="1244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FP&amp;A, planning</a:t>
            </a:r>
            <a:endParaRPr lang="en-US" sz="1200" dirty="0"/>
          </a:p>
        </p:txBody>
      </p:sp>
      <p:sp>
        <p:nvSpPr>
          <p:cNvPr id="134" name="Shape 39">
            <a:extLst>
              <a:ext uri="{FF2B5EF4-FFF2-40B4-BE49-F238E27FC236}">
                <a16:creationId xmlns:a16="http://schemas.microsoft.com/office/drawing/2014/main" id="{9C614D9A-3E6D-BD29-2B61-BE0A88413854}"/>
              </a:ext>
            </a:extLst>
          </p:cNvPr>
          <p:cNvSpPr/>
          <p:nvPr/>
        </p:nvSpPr>
        <p:spPr>
          <a:xfrm>
            <a:off x="4070350" y="4957857"/>
            <a:ext cx="1384300" cy="622300"/>
          </a:xfrm>
          <a:prstGeom prst="roundRect">
            <a:avLst>
              <a:gd name="adj" fmla="val 9184"/>
            </a:avLst>
          </a:prstGeom>
          <a:solidFill>
            <a:srgbClr val="DDF0EF"/>
          </a:solidFill>
          <a:ln w="12700">
            <a:solidFill>
              <a:srgbClr val="1C7293"/>
            </a:solidFill>
            <a:prstDash val="solid"/>
          </a:ln>
        </p:spPr>
        <p:txBody>
          <a:bodyPr/>
          <a:lstStyle/>
          <a:p>
            <a:endParaRPr lang="en-IN"/>
          </a:p>
        </p:txBody>
      </p:sp>
      <p:sp>
        <p:nvSpPr>
          <p:cNvPr id="136" name="Text 40">
            <a:extLst>
              <a:ext uri="{FF2B5EF4-FFF2-40B4-BE49-F238E27FC236}">
                <a16:creationId xmlns:a16="http://schemas.microsoft.com/office/drawing/2014/main" id="{34E05B2E-BDF8-6EF5-64FA-D6035298B842}"/>
              </a:ext>
            </a:extLst>
          </p:cNvPr>
          <p:cNvSpPr/>
          <p:nvPr/>
        </p:nvSpPr>
        <p:spPr>
          <a:xfrm>
            <a:off x="4165600" y="5046757"/>
            <a:ext cx="12446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1295C"/>
                </a:solidFill>
                <a:latin typeface="Carlito" pitchFamily="34" charset="0"/>
                <a:ea typeface="Carlito" pitchFamily="34" charset="-122"/>
                <a:cs typeface="Carlito" pitchFamily="34" charset="-120"/>
              </a:rPr>
              <a:t>Infor WMS</a:t>
            </a:r>
            <a:endParaRPr lang="en-US" sz="1300" dirty="0"/>
          </a:p>
        </p:txBody>
      </p:sp>
      <p:sp>
        <p:nvSpPr>
          <p:cNvPr id="138" name="Text 41">
            <a:extLst>
              <a:ext uri="{FF2B5EF4-FFF2-40B4-BE49-F238E27FC236}">
                <a16:creationId xmlns:a16="http://schemas.microsoft.com/office/drawing/2014/main" id="{25EBABF5-D131-90E4-0683-D4B478C7316A}"/>
              </a:ext>
            </a:extLst>
          </p:cNvPr>
          <p:cNvSpPr/>
          <p:nvPr/>
        </p:nvSpPr>
        <p:spPr>
          <a:xfrm>
            <a:off x="4165600" y="5277875"/>
            <a:ext cx="1244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RM/PM and FG</a:t>
            </a:r>
            <a:endParaRPr lang="en-US" sz="1200" dirty="0"/>
          </a:p>
        </p:txBody>
      </p:sp>
      <p:sp>
        <p:nvSpPr>
          <p:cNvPr id="140" name="Shape 42">
            <a:extLst>
              <a:ext uri="{FF2B5EF4-FFF2-40B4-BE49-F238E27FC236}">
                <a16:creationId xmlns:a16="http://schemas.microsoft.com/office/drawing/2014/main" id="{7DD8DD23-965F-D7D6-7102-2079476F77A0}"/>
              </a:ext>
            </a:extLst>
          </p:cNvPr>
          <p:cNvSpPr/>
          <p:nvPr/>
        </p:nvSpPr>
        <p:spPr>
          <a:xfrm>
            <a:off x="5848350" y="4957857"/>
            <a:ext cx="1765300" cy="622300"/>
          </a:xfrm>
          <a:prstGeom prst="roundRect">
            <a:avLst>
              <a:gd name="adj" fmla="val 9184"/>
            </a:avLst>
          </a:prstGeom>
          <a:solidFill>
            <a:srgbClr val="F5F7F9"/>
          </a:solidFill>
          <a:ln w="12700">
            <a:solidFill>
              <a:srgbClr val="6B7785"/>
            </a:solidFill>
            <a:prstDash val="dash"/>
          </a:ln>
        </p:spPr>
        <p:txBody>
          <a:bodyPr/>
          <a:lstStyle/>
          <a:p>
            <a:endParaRPr lang="en-IN"/>
          </a:p>
        </p:txBody>
      </p:sp>
      <p:sp>
        <p:nvSpPr>
          <p:cNvPr id="142" name="Text 43">
            <a:extLst>
              <a:ext uri="{FF2B5EF4-FFF2-40B4-BE49-F238E27FC236}">
                <a16:creationId xmlns:a16="http://schemas.microsoft.com/office/drawing/2014/main" id="{6FA7C259-15C4-894E-34CD-1F0085419A8B}"/>
              </a:ext>
            </a:extLst>
          </p:cNvPr>
          <p:cNvSpPr/>
          <p:nvPr/>
        </p:nvSpPr>
        <p:spPr>
          <a:xfrm>
            <a:off x="5943600" y="5046757"/>
            <a:ext cx="16256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1295C"/>
                </a:solidFill>
                <a:latin typeface="Carlito" pitchFamily="34" charset="0"/>
                <a:ea typeface="Carlito" pitchFamily="34" charset="-122"/>
                <a:cs typeface="Carlito" pitchFamily="34" charset="-120"/>
              </a:rPr>
              <a:t>LIMS (planned)</a:t>
            </a:r>
            <a:endParaRPr lang="en-US" sz="1300" dirty="0"/>
          </a:p>
        </p:txBody>
      </p:sp>
      <p:sp>
        <p:nvSpPr>
          <p:cNvPr id="144" name="Text 44">
            <a:extLst>
              <a:ext uri="{FF2B5EF4-FFF2-40B4-BE49-F238E27FC236}">
                <a16:creationId xmlns:a16="http://schemas.microsoft.com/office/drawing/2014/main" id="{5BAD1670-0546-9DDB-4840-2CFC7AC2905A}"/>
              </a:ext>
            </a:extLst>
          </p:cNvPr>
          <p:cNvSpPr/>
          <p:nvPr/>
        </p:nvSpPr>
        <p:spPr>
          <a:xfrm>
            <a:off x="5943600" y="5277875"/>
            <a:ext cx="1625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7"/>
                </a:solidFill>
                <a:latin typeface="Carlito" pitchFamily="34" charset="0"/>
                <a:ea typeface="Carlito" pitchFamily="34" charset="-122"/>
                <a:cs typeface="Carlito" pitchFamily="34" charset="-120"/>
              </a:rPr>
              <a:t>go-live Apr–May</a:t>
            </a:r>
            <a:endParaRPr lang="en-US" sz="1200" dirty="0"/>
          </a:p>
        </p:txBody>
      </p:sp>
      <p:sp>
        <p:nvSpPr>
          <p:cNvPr id="146" name="Text 45">
            <a:extLst>
              <a:ext uri="{FF2B5EF4-FFF2-40B4-BE49-F238E27FC236}">
                <a16:creationId xmlns:a16="http://schemas.microsoft.com/office/drawing/2014/main" id="{7D50EC54-2C41-F804-48FB-437CB50D9F38}"/>
              </a:ext>
            </a:extLst>
          </p:cNvPr>
          <p:cNvSpPr/>
          <p:nvPr/>
        </p:nvSpPr>
        <p:spPr>
          <a:xfrm>
            <a:off x="1868805" y="5637307"/>
            <a:ext cx="2485390"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B5541E"/>
                </a:solidFill>
                <a:latin typeface="Carlito" pitchFamily="34" charset="0"/>
                <a:ea typeface="Carlito" pitchFamily="34" charset="-122"/>
                <a:cs typeface="Carlito" pitchFamily="34" charset="-120"/>
              </a:rPr>
              <a:t>no Jedox–WMS interface</a:t>
            </a:r>
            <a:endParaRPr lang="en-US" sz="1200" dirty="0"/>
          </a:p>
        </p:txBody>
      </p:sp>
      <p:pic>
        <p:nvPicPr>
          <p:cNvPr id="148" name="Image 0" descr="connector">
            <a:extLst>
              <a:ext uri="{FF2B5EF4-FFF2-40B4-BE49-F238E27FC236}">
                <a16:creationId xmlns:a16="http://schemas.microsoft.com/office/drawing/2014/main" id="{16432965-26DA-6248-41DA-5526C5F6159B}"/>
              </a:ext>
            </a:extLst>
          </p:cNvPr>
          <p:cNvPicPr>
            <a:picLocks noChangeAspect="1"/>
          </p:cNvPicPr>
          <p:nvPr/>
        </p:nvPicPr>
        <p:blipFill>
          <a:blip r:embed="rId4"/>
          <a:srcRect/>
          <a:stretch/>
        </p:blipFill>
        <p:spPr>
          <a:xfrm>
            <a:off x="3822700" y="2081307"/>
            <a:ext cx="101600" cy="317500"/>
          </a:xfrm>
          <a:prstGeom prst="rect">
            <a:avLst/>
          </a:prstGeom>
        </p:spPr>
      </p:pic>
      <p:pic>
        <p:nvPicPr>
          <p:cNvPr id="150" name="Image 1" descr="connector">
            <a:extLst>
              <a:ext uri="{FF2B5EF4-FFF2-40B4-BE49-F238E27FC236}">
                <a16:creationId xmlns:a16="http://schemas.microsoft.com/office/drawing/2014/main" id="{CF131EBE-2650-68F2-3CDA-7DF3ED920AE3}"/>
              </a:ext>
            </a:extLst>
          </p:cNvPr>
          <p:cNvPicPr>
            <a:picLocks noChangeAspect="1"/>
          </p:cNvPicPr>
          <p:nvPr/>
        </p:nvPicPr>
        <p:blipFill>
          <a:blip r:embed="rId5"/>
          <a:srcRect/>
          <a:stretch/>
        </p:blipFill>
        <p:spPr>
          <a:xfrm>
            <a:off x="1917700" y="2754407"/>
            <a:ext cx="419100" cy="101600"/>
          </a:xfrm>
          <a:prstGeom prst="rect">
            <a:avLst/>
          </a:prstGeom>
        </p:spPr>
      </p:pic>
      <p:pic>
        <p:nvPicPr>
          <p:cNvPr id="152" name="Image 2" descr="connector">
            <a:extLst>
              <a:ext uri="{FF2B5EF4-FFF2-40B4-BE49-F238E27FC236}">
                <a16:creationId xmlns:a16="http://schemas.microsoft.com/office/drawing/2014/main" id="{FF71B420-C52D-4C9F-46DB-FE3E031179F1}"/>
              </a:ext>
            </a:extLst>
          </p:cNvPr>
          <p:cNvPicPr>
            <a:picLocks noChangeAspect="1"/>
          </p:cNvPicPr>
          <p:nvPr/>
        </p:nvPicPr>
        <p:blipFill>
          <a:blip r:embed="rId5"/>
          <a:srcRect/>
          <a:stretch/>
        </p:blipFill>
        <p:spPr>
          <a:xfrm>
            <a:off x="1917700" y="3452907"/>
            <a:ext cx="419100" cy="101600"/>
          </a:xfrm>
          <a:prstGeom prst="rect">
            <a:avLst/>
          </a:prstGeom>
        </p:spPr>
      </p:pic>
      <p:pic>
        <p:nvPicPr>
          <p:cNvPr id="154" name="Image 3" descr="connector">
            <a:extLst>
              <a:ext uri="{FF2B5EF4-FFF2-40B4-BE49-F238E27FC236}">
                <a16:creationId xmlns:a16="http://schemas.microsoft.com/office/drawing/2014/main" id="{4F35DE85-A2E7-EEEE-7430-AC06905E71D0}"/>
              </a:ext>
            </a:extLst>
          </p:cNvPr>
          <p:cNvPicPr>
            <a:picLocks noChangeAspect="1"/>
          </p:cNvPicPr>
          <p:nvPr/>
        </p:nvPicPr>
        <p:blipFill>
          <a:blip r:embed="rId6"/>
          <a:srcRect/>
          <a:stretch/>
        </p:blipFill>
        <p:spPr>
          <a:xfrm>
            <a:off x="5410200" y="2462307"/>
            <a:ext cx="482600" cy="101600"/>
          </a:xfrm>
          <a:prstGeom prst="rect">
            <a:avLst/>
          </a:prstGeom>
        </p:spPr>
      </p:pic>
      <p:pic>
        <p:nvPicPr>
          <p:cNvPr id="156" name="Image 4" descr="connector">
            <a:extLst>
              <a:ext uri="{FF2B5EF4-FFF2-40B4-BE49-F238E27FC236}">
                <a16:creationId xmlns:a16="http://schemas.microsoft.com/office/drawing/2014/main" id="{50576926-6024-EDC1-8500-3D5E25A8536F}"/>
              </a:ext>
            </a:extLst>
          </p:cNvPr>
          <p:cNvPicPr>
            <a:picLocks noChangeAspect="1"/>
          </p:cNvPicPr>
          <p:nvPr/>
        </p:nvPicPr>
        <p:blipFill>
          <a:blip r:embed="rId7"/>
          <a:srcRect/>
          <a:stretch/>
        </p:blipFill>
        <p:spPr>
          <a:xfrm>
            <a:off x="6680200" y="2627407"/>
            <a:ext cx="101600" cy="228600"/>
          </a:xfrm>
          <a:prstGeom prst="rect">
            <a:avLst/>
          </a:prstGeom>
        </p:spPr>
      </p:pic>
      <p:pic>
        <p:nvPicPr>
          <p:cNvPr id="158" name="Image 5" descr="connector">
            <a:extLst>
              <a:ext uri="{FF2B5EF4-FFF2-40B4-BE49-F238E27FC236}">
                <a16:creationId xmlns:a16="http://schemas.microsoft.com/office/drawing/2014/main" id="{89BD1731-86DA-D305-C52C-D4A466C2CD44}"/>
              </a:ext>
            </a:extLst>
          </p:cNvPr>
          <p:cNvPicPr>
            <a:picLocks noChangeAspect="1"/>
          </p:cNvPicPr>
          <p:nvPr/>
        </p:nvPicPr>
        <p:blipFill>
          <a:blip r:embed="rId7"/>
          <a:srcRect/>
          <a:stretch/>
        </p:blipFill>
        <p:spPr>
          <a:xfrm>
            <a:off x="6680200" y="3084607"/>
            <a:ext cx="101600" cy="228600"/>
          </a:xfrm>
          <a:prstGeom prst="rect">
            <a:avLst/>
          </a:prstGeom>
        </p:spPr>
      </p:pic>
      <p:pic>
        <p:nvPicPr>
          <p:cNvPr id="160" name="Image 6" descr="connector">
            <a:extLst>
              <a:ext uri="{FF2B5EF4-FFF2-40B4-BE49-F238E27FC236}">
                <a16:creationId xmlns:a16="http://schemas.microsoft.com/office/drawing/2014/main" id="{63F30C56-A147-7FF0-B430-33BB034E22E9}"/>
              </a:ext>
            </a:extLst>
          </p:cNvPr>
          <p:cNvPicPr>
            <a:picLocks noChangeAspect="1"/>
          </p:cNvPicPr>
          <p:nvPr/>
        </p:nvPicPr>
        <p:blipFill>
          <a:blip r:embed="rId7"/>
          <a:srcRect/>
          <a:stretch/>
        </p:blipFill>
        <p:spPr>
          <a:xfrm>
            <a:off x="6680200" y="3541807"/>
            <a:ext cx="101600" cy="228600"/>
          </a:xfrm>
          <a:prstGeom prst="rect">
            <a:avLst/>
          </a:prstGeom>
        </p:spPr>
      </p:pic>
      <p:pic>
        <p:nvPicPr>
          <p:cNvPr id="162" name="Image 7" descr="connector">
            <a:extLst>
              <a:ext uri="{FF2B5EF4-FFF2-40B4-BE49-F238E27FC236}">
                <a16:creationId xmlns:a16="http://schemas.microsoft.com/office/drawing/2014/main" id="{A397A806-44A6-C9F4-D4D8-DF87A9A6E543}"/>
              </a:ext>
            </a:extLst>
          </p:cNvPr>
          <p:cNvPicPr>
            <a:picLocks noChangeAspect="1"/>
          </p:cNvPicPr>
          <p:nvPr/>
        </p:nvPicPr>
        <p:blipFill>
          <a:blip r:embed="rId8"/>
          <a:srcRect/>
          <a:stretch/>
        </p:blipFill>
        <p:spPr>
          <a:xfrm>
            <a:off x="3822700" y="3884707"/>
            <a:ext cx="101600" cy="355600"/>
          </a:xfrm>
          <a:prstGeom prst="rect">
            <a:avLst/>
          </a:prstGeom>
        </p:spPr>
      </p:pic>
      <p:pic>
        <p:nvPicPr>
          <p:cNvPr id="164" name="Image 8" descr="connector">
            <a:extLst>
              <a:ext uri="{FF2B5EF4-FFF2-40B4-BE49-F238E27FC236}">
                <a16:creationId xmlns:a16="http://schemas.microsoft.com/office/drawing/2014/main" id="{0F71CA76-F7D4-042F-6ACD-DE9294D518CF}"/>
              </a:ext>
            </a:extLst>
          </p:cNvPr>
          <p:cNvPicPr>
            <a:picLocks noChangeAspect="1"/>
          </p:cNvPicPr>
          <p:nvPr/>
        </p:nvPicPr>
        <p:blipFill>
          <a:blip r:embed="rId9"/>
          <a:srcRect/>
          <a:stretch/>
        </p:blipFill>
        <p:spPr>
          <a:xfrm>
            <a:off x="1409700" y="4570507"/>
            <a:ext cx="101600" cy="431800"/>
          </a:xfrm>
          <a:prstGeom prst="rect">
            <a:avLst/>
          </a:prstGeom>
        </p:spPr>
      </p:pic>
      <p:pic>
        <p:nvPicPr>
          <p:cNvPr id="166" name="Image 9" descr="connector">
            <a:extLst>
              <a:ext uri="{FF2B5EF4-FFF2-40B4-BE49-F238E27FC236}">
                <a16:creationId xmlns:a16="http://schemas.microsoft.com/office/drawing/2014/main" id="{EB1EC40B-43CD-3632-6A00-00D097492E31}"/>
              </a:ext>
            </a:extLst>
          </p:cNvPr>
          <p:cNvPicPr>
            <a:picLocks noChangeAspect="1"/>
          </p:cNvPicPr>
          <p:nvPr/>
        </p:nvPicPr>
        <p:blipFill>
          <a:blip r:embed="rId9"/>
          <a:srcRect/>
          <a:stretch/>
        </p:blipFill>
        <p:spPr>
          <a:xfrm>
            <a:off x="3060700" y="4570507"/>
            <a:ext cx="101600" cy="431800"/>
          </a:xfrm>
          <a:prstGeom prst="rect">
            <a:avLst/>
          </a:prstGeom>
        </p:spPr>
      </p:pic>
      <p:pic>
        <p:nvPicPr>
          <p:cNvPr id="168" name="Image 10" descr="connector">
            <a:extLst>
              <a:ext uri="{FF2B5EF4-FFF2-40B4-BE49-F238E27FC236}">
                <a16:creationId xmlns:a16="http://schemas.microsoft.com/office/drawing/2014/main" id="{0F0BB283-4BE2-354A-5203-9019A37C11A6}"/>
              </a:ext>
            </a:extLst>
          </p:cNvPr>
          <p:cNvPicPr>
            <a:picLocks noChangeAspect="1"/>
          </p:cNvPicPr>
          <p:nvPr/>
        </p:nvPicPr>
        <p:blipFill>
          <a:blip r:embed="rId9"/>
          <a:srcRect/>
          <a:stretch/>
        </p:blipFill>
        <p:spPr>
          <a:xfrm>
            <a:off x="4711700" y="4570507"/>
            <a:ext cx="101600" cy="431800"/>
          </a:xfrm>
          <a:prstGeom prst="rect">
            <a:avLst/>
          </a:prstGeom>
        </p:spPr>
      </p:pic>
      <p:pic>
        <p:nvPicPr>
          <p:cNvPr id="170" name="Image 11" descr="connector">
            <a:extLst>
              <a:ext uri="{FF2B5EF4-FFF2-40B4-BE49-F238E27FC236}">
                <a16:creationId xmlns:a16="http://schemas.microsoft.com/office/drawing/2014/main" id="{77B1157A-43ED-7172-1A33-4A0337E45DAF}"/>
              </a:ext>
            </a:extLst>
          </p:cNvPr>
          <p:cNvPicPr>
            <a:picLocks noChangeAspect="1"/>
          </p:cNvPicPr>
          <p:nvPr/>
        </p:nvPicPr>
        <p:blipFill>
          <a:blip r:embed="rId10"/>
          <a:srcRect/>
          <a:stretch/>
        </p:blipFill>
        <p:spPr>
          <a:xfrm>
            <a:off x="5410200" y="5218207"/>
            <a:ext cx="482600" cy="101600"/>
          </a:xfrm>
          <a:prstGeom prst="rect">
            <a:avLst/>
          </a:prstGeom>
        </p:spPr>
      </p:pic>
      <p:sp>
        <p:nvSpPr>
          <p:cNvPr id="172" name="Text 48">
            <a:extLst>
              <a:ext uri="{FF2B5EF4-FFF2-40B4-BE49-F238E27FC236}">
                <a16:creationId xmlns:a16="http://schemas.microsoft.com/office/drawing/2014/main" id="{34711E09-24A9-D6D0-C32D-64E5D8AD8E40}"/>
              </a:ext>
            </a:extLst>
          </p:cNvPr>
          <p:cNvSpPr/>
          <p:nvPr/>
        </p:nvSpPr>
        <p:spPr>
          <a:xfrm>
            <a:off x="8064500" y="1751107"/>
            <a:ext cx="346646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1295C"/>
                </a:solidFill>
                <a:latin typeface="Carlito" pitchFamily="34" charset="0"/>
                <a:ea typeface="Carlito" pitchFamily="34" charset="-122"/>
                <a:cs typeface="Carlito" pitchFamily="34" charset="-120"/>
              </a:rPr>
              <a:t>Via DataSpider</a:t>
            </a:r>
            <a:endParaRPr lang="en-US" sz="1400" dirty="0"/>
          </a:p>
        </p:txBody>
      </p:sp>
      <p:sp>
        <p:nvSpPr>
          <p:cNvPr id="174" name="Text 49">
            <a:extLst>
              <a:ext uri="{FF2B5EF4-FFF2-40B4-BE49-F238E27FC236}">
                <a16:creationId xmlns:a16="http://schemas.microsoft.com/office/drawing/2014/main" id="{0F3DE911-094F-96B7-7A02-FDEB693B2C91}"/>
              </a:ext>
            </a:extLst>
          </p:cNvPr>
          <p:cNvSpPr/>
          <p:nvPr/>
        </p:nvSpPr>
        <p:spPr>
          <a:xfrm>
            <a:off x="8064500" y="2002527"/>
            <a:ext cx="346646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Carlito" pitchFamily="34" charset="0"/>
                <a:ea typeface="Carlito" pitchFamily="34" charset="-122"/>
                <a:cs typeface="Carlito" pitchFamily="34" charset="-120"/>
              </a:rPr>
              <a:t>Jedox (planning data), Infor WMS (real-time receipts and returns), HTMS portal.</a:t>
            </a:r>
            <a:endParaRPr lang="en-US" sz="1200" dirty="0"/>
          </a:p>
        </p:txBody>
      </p:sp>
      <p:sp>
        <p:nvSpPr>
          <p:cNvPr id="176" name="Text 50">
            <a:extLst>
              <a:ext uri="{FF2B5EF4-FFF2-40B4-BE49-F238E27FC236}">
                <a16:creationId xmlns:a16="http://schemas.microsoft.com/office/drawing/2014/main" id="{E462F26E-7EAE-C93F-A6B3-F6170E7CA31F}"/>
              </a:ext>
            </a:extLst>
          </p:cNvPr>
          <p:cNvSpPr/>
          <p:nvPr/>
        </p:nvSpPr>
        <p:spPr>
          <a:xfrm>
            <a:off x="8064500" y="2591756"/>
            <a:ext cx="346646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1295C"/>
                </a:solidFill>
                <a:latin typeface="Carlito" pitchFamily="34" charset="0"/>
                <a:ea typeface="Carlito" pitchFamily="34" charset="-122"/>
                <a:cs typeface="Carlito" pitchFamily="34" charset="-120"/>
              </a:rPr>
              <a:t>Direct to SAP</a:t>
            </a:r>
            <a:endParaRPr lang="en-US" sz="1400" dirty="0"/>
          </a:p>
        </p:txBody>
      </p:sp>
      <p:sp>
        <p:nvSpPr>
          <p:cNvPr id="178" name="Text 51">
            <a:extLst>
              <a:ext uri="{FF2B5EF4-FFF2-40B4-BE49-F238E27FC236}">
                <a16:creationId xmlns:a16="http://schemas.microsoft.com/office/drawing/2014/main" id="{77E459A4-8FE4-0DC2-E0E0-43D26FDFF574}"/>
              </a:ext>
            </a:extLst>
          </p:cNvPr>
          <p:cNvSpPr/>
          <p:nvPr/>
        </p:nvSpPr>
        <p:spPr>
          <a:xfrm>
            <a:off x="8064500" y="2843177"/>
            <a:ext cx="346646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Carlito" pitchFamily="34" charset="0"/>
                <a:ea typeface="Carlito" pitchFamily="34" charset="-122"/>
                <a:cs typeface="Carlito" pitchFamily="34" charset="-120"/>
              </a:rPr>
              <a:t>Concur (ABAP batch, no payment status back), Citi Bank, ESS HRIS, sales analytics (CSV).</a:t>
            </a:r>
            <a:endParaRPr lang="en-US" sz="1200" dirty="0"/>
          </a:p>
        </p:txBody>
      </p:sp>
      <p:sp>
        <p:nvSpPr>
          <p:cNvPr id="180" name="Text 52">
            <a:extLst>
              <a:ext uri="{FF2B5EF4-FFF2-40B4-BE49-F238E27FC236}">
                <a16:creationId xmlns:a16="http://schemas.microsoft.com/office/drawing/2014/main" id="{69B2D1FB-AA53-1A52-0BBE-7256C1E6D074}"/>
              </a:ext>
            </a:extLst>
          </p:cNvPr>
          <p:cNvSpPr/>
          <p:nvPr/>
        </p:nvSpPr>
        <p:spPr>
          <a:xfrm>
            <a:off x="8064500" y="3432406"/>
            <a:ext cx="346646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1295C"/>
                </a:solidFill>
                <a:latin typeface="Carlito" pitchFamily="34" charset="0"/>
                <a:ea typeface="Carlito" pitchFamily="34" charset="-122"/>
                <a:cs typeface="Carlito" pitchFamily="34" charset="-120"/>
              </a:rPr>
              <a:t>API readiness</a:t>
            </a:r>
            <a:endParaRPr lang="en-US" sz="1400" dirty="0"/>
          </a:p>
        </p:txBody>
      </p:sp>
      <p:sp>
        <p:nvSpPr>
          <p:cNvPr id="182" name="Text 53">
            <a:extLst>
              <a:ext uri="{FF2B5EF4-FFF2-40B4-BE49-F238E27FC236}">
                <a16:creationId xmlns:a16="http://schemas.microsoft.com/office/drawing/2014/main" id="{DDEA5395-12E0-7174-9741-A67DAF566469}"/>
              </a:ext>
            </a:extLst>
          </p:cNvPr>
          <p:cNvSpPr/>
          <p:nvPr/>
        </p:nvSpPr>
        <p:spPr>
          <a:xfrm>
            <a:off x="8064500" y="3683826"/>
            <a:ext cx="346646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Carlito" pitchFamily="34" charset="0"/>
                <a:ea typeface="Carlito" pitchFamily="34" charset="-122"/>
                <a:cs typeface="Carlito" pitchFamily="34" charset="-120"/>
              </a:rPr>
              <a:t>SAP: REST and files; Jedox: API in place; WMS: expected; LIMS: unknown.</a:t>
            </a:r>
            <a:endParaRPr lang="en-US" sz="1200" dirty="0"/>
          </a:p>
        </p:txBody>
      </p:sp>
      <p:sp>
        <p:nvSpPr>
          <p:cNvPr id="184" name="Text 54">
            <a:extLst>
              <a:ext uri="{FF2B5EF4-FFF2-40B4-BE49-F238E27FC236}">
                <a16:creationId xmlns:a16="http://schemas.microsoft.com/office/drawing/2014/main" id="{0EFED7CE-5375-8746-7A80-4C3850A6AE80}"/>
              </a:ext>
            </a:extLst>
          </p:cNvPr>
          <p:cNvSpPr/>
          <p:nvPr/>
        </p:nvSpPr>
        <p:spPr>
          <a:xfrm>
            <a:off x="8064500" y="4273049"/>
            <a:ext cx="346646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1295C"/>
                </a:solidFill>
                <a:latin typeface="Carlito" pitchFamily="34" charset="0"/>
                <a:ea typeface="Carlito" pitchFamily="34" charset="-122"/>
                <a:cs typeface="Carlito" pitchFamily="34" charset="-120"/>
              </a:rPr>
              <a:t>Support model</a:t>
            </a:r>
            <a:endParaRPr lang="en-US" sz="1400" dirty="0"/>
          </a:p>
        </p:txBody>
      </p:sp>
      <p:sp>
        <p:nvSpPr>
          <p:cNvPr id="186" name="Text 55">
            <a:extLst>
              <a:ext uri="{FF2B5EF4-FFF2-40B4-BE49-F238E27FC236}">
                <a16:creationId xmlns:a16="http://schemas.microsoft.com/office/drawing/2014/main" id="{FBE16597-BD48-D17E-8063-AA1B25362409}"/>
              </a:ext>
            </a:extLst>
          </p:cNvPr>
          <p:cNvSpPr/>
          <p:nvPr/>
        </p:nvSpPr>
        <p:spPr>
          <a:xfrm>
            <a:off x="8064500" y="4524470"/>
            <a:ext cx="346646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Carlito" pitchFamily="34" charset="0"/>
                <a:ea typeface="Carlito" pitchFamily="34" charset="-122"/>
              </a:rPr>
              <a:t>SPC IT team manages the Support and System enhancements handled by external vendors</a:t>
            </a:r>
            <a:endParaRPr lang="en-US" sz="1200" dirty="0"/>
          </a:p>
        </p:txBody>
      </p:sp>
      <p:pic>
        <p:nvPicPr>
          <p:cNvPr id="188" name="Picture 187" descr="Durvah Logo Brand New.jpg">
            <a:extLst>
              <a:ext uri="{FF2B5EF4-FFF2-40B4-BE49-F238E27FC236}">
                <a16:creationId xmlns:a16="http://schemas.microsoft.com/office/drawing/2014/main" id="{E9E8E2AC-F1F4-43C6-FDB5-9434567DBE40}"/>
              </a:ext>
            </a:extLst>
          </p:cNvPr>
          <p:cNvPicPr>
            <a:picLocks noChangeAspect="1"/>
          </p:cNvPicPr>
          <p:nvPr/>
        </p:nvPicPr>
        <p:blipFill>
          <a:blip r:embed="rId11"/>
          <a:stretch>
            <a:fillRect/>
          </a:stretch>
        </p:blipFill>
        <p:spPr>
          <a:xfrm>
            <a:off x="10363201" y="228600"/>
            <a:ext cx="1147482" cy="450917"/>
          </a:xfrm>
          <a:prstGeom prst="rect">
            <a:avLst/>
          </a:prstGeom>
        </p:spPr>
      </p:pic>
    </p:spTree>
    <p:extLst>
      <p:ext uri="{BB962C8B-B14F-4D97-AF65-F5344CB8AC3E}">
        <p14:creationId xmlns:p14="http://schemas.microsoft.com/office/powerpoint/2010/main" val="41044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7FA"/>
        </a:solidFill>
        <a:effectLst/>
      </p:bgPr>
    </p:bg>
    <p:spTree>
      <p:nvGrpSpPr>
        <p:cNvPr id="1" name=""/>
        <p:cNvGrpSpPr/>
        <p:nvPr/>
      </p:nvGrpSpPr>
      <p:grpSpPr>
        <a:xfrm>
          <a:off x="0" y="0"/>
          <a:ext cx="0" cy="0"/>
          <a:chOff x="0" y="0"/>
          <a:chExt cx="0" cy="0"/>
        </a:xfrm>
      </p:grpSpPr>
      <p:pic>
        <p:nvPicPr>
          <p:cNvPr id="2" name="Image 0" descr="Ajinomoto logo"/>
          <p:cNvPicPr>
            <a:picLocks noChangeAspect="1"/>
          </p:cNvPicPr>
          <p:nvPr/>
        </p:nvPicPr>
        <p:blipFill>
          <a:blip r:embed="rId3"/>
          <a:srcRect l="-26" r="-26"/>
          <a:stretch/>
        </p:blipFill>
        <p:spPr>
          <a:xfrm>
            <a:off x="9398000" y="254000"/>
            <a:ext cx="660400" cy="463550"/>
          </a:xfrm>
          <a:prstGeom prst="rect">
            <a:avLst/>
          </a:prstGeom>
        </p:spPr>
      </p:pic>
      <p:pic>
        <p:nvPicPr>
          <p:cNvPr id="3" name="Image 1" descr="Durvah IT Consulting logo"/>
          <p:cNvPicPr>
            <a:picLocks noChangeAspect="1"/>
          </p:cNvPicPr>
          <p:nvPr/>
        </p:nvPicPr>
        <p:blipFill>
          <a:blip r:embed="rId4"/>
          <a:srcRect l="-49" r="-49"/>
          <a:stretch/>
        </p:blipFill>
        <p:spPr>
          <a:xfrm>
            <a:off x="10261600" y="254000"/>
            <a:ext cx="1320800" cy="457200"/>
          </a:xfrm>
          <a:prstGeom prst="rect">
            <a:avLst/>
          </a:prstGeom>
        </p:spPr>
      </p:pic>
      <p:sp>
        <p:nvSpPr>
          <p:cNvPr id="4" name="Text 0"/>
          <p:cNvSpPr/>
          <p:nvPr/>
        </p:nvSpPr>
        <p:spPr>
          <a:xfrm>
            <a:off x="609600" y="304800"/>
            <a:ext cx="817562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PROCESS COVERAGE</a:t>
            </a:r>
            <a:endParaRPr lang="en-US" sz="1200" dirty="0"/>
          </a:p>
        </p:txBody>
      </p:sp>
      <p:sp>
        <p:nvSpPr>
          <p:cNvPr id="5" name="Text 1"/>
          <p:cNvSpPr>
            <a:spLocks noGrp="1"/>
          </p:cNvSpPr>
          <p:nvPr>
            <p:ph type="title"/>
          </p:nvPr>
        </p:nvSpPr>
        <p:spPr>
          <a:xfrm>
            <a:off x="609600" y="568920"/>
            <a:ext cx="817562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Scope discussed: 10 domains, 87 features</a:t>
            </a:r>
            <a:endParaRPr lang="en-US" sz="2800" dirty="0"/>
          </a:p>
        </p:txBody>
      </p:sp>
      <p:sp>
        <p:nvSpPr>
          <p:cNvPr id="6" name="Text 2"/>
          <p:cNvSpPr/>
          <p:nvPr/>
        </p:nvSpPr>
        <p:spPr>
          <a:xfrm>
            <a:off x="609600" y="1010841"/>
            <a:ext cx="817562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66074"/>
                </a:solidFill>
                <a:latin typeface="Public Sans" pitchFamily="34" charset="0"/>
                <a:ea typeface="Public Sans" pitchFamily="34" charset="-122"/>
                <a:cs typeface="Public Sans" pitchFamily="34" charset="-120"/>
              </a:rPr>
              <a:t>53 internal and 34 supplier-facing features, each walked through with APC users</a:t>
            </a:r>
            <a:endParaRPr lang="en-US" sz="1300" dirty="0"/>
          </a:p>
        </p:txBody>
      </p:sp>
      <p:sp>
        <p:nvSpPr>
          <p:cNvPr id="7" name="Shape 3"/>
          <p:cNvSpPr/>
          <p:nvPr/>
        </p:nvSpPr>
        <p:spPr>
          <a:xfrm>
            <a:off x="615950" y="1426105"/>
            <a:ext cx="2080220" cy="2153708"/>
          </a:xfrm>
          <a:prstGeom prst="roundRect">
            <a:avLst>
              <a:gd name="adj" fmla="val 4579"/>
            </a:avLst>
          </a:prstGeom>
          <a:solidFill>
            <a:srgbClr val="FFFFFF"/>
          </a:solidFill>
          <a:ln w="12700">
            <a:solidFill>
              <a:srgbClr val="DDE2EC"/>
            </a:solidFill>
            <a:prstDash val="solid"/>
          </a:ln>
        </p:spPr>
        <p:txBody>
          <a:bodyPr/>
          <a:lstStyle/>
          <a:p>
            <a:endParaRPr lang="en-IN"/>
          </a:p>
        </p:txBody>
      </p:sp>
      <p:sp>
        <p:nvSpPr>
          <p:cNvPr id="8" name="Text 4"/>
          <p:cNvSpPr/>
          <p:nvPr/>
        </p:nvSpPr>
        <p:spPr>
          <a:xfrm>
            <a:off x="774700" y="1584855"/>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01</a:t>
            </a:r>
            <a:endParaRPr lang="en-US" sz="1200" dirty="0"/>
          </a:p>
        </p:txBody>
      </p:sp>
      <p:sp>
        <p:nvSpPr>
          <p:cNvPr id="9" name="Text 5"/>
          <p:cNvSpPr/>
          <p:nvPr/>
        </p:nvSpPr>
        <p:spPr>
          <a:xfrm>
            <a:off x="774700" y="1861676"/>
            <a:ext cx="18156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Supplier Qualification and Master Data</a:t>
            </a:r>
            <a:endParaRPr lang="en-US" sz="1300" dirty="0"/>
          </a:p>
        </p:txBody>
      </p:sp>
      <p:sp>
        <p:nvSpPr>
          <p:cNvPr id="10" name="Text 6"/>
          <p:cNvSpPr/>
          <p:nvPr/>
        </p:nvSpPr>
        <p:spPr>
          <a:xfrm>
            <a:off x="774700" y="2321389"/>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7 internal · 5 supplier</a:t>
            </a:r>
            <a:endParaRPr lang="en-US" sz="1200" dirty="0"/>
          </a:p>
        </p:txBody>
      </p:sp>
      <p:sp>
        <p:nvSpPr>
          <p:cNvPr id="11" name="Text 7"/>
          <p:cNvSpPr/>
          <p:nvPr/>
        </p:nvSpPr>
        <p:spPr>
          <a:xfrm>
            <a:off x="774700" y="2582996"/>
            <a:ext cx="181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Onboarding, documents, expiry alerts, pricing</a:t>
            </a:r>
            <a:endParaRPr lang="en-US" sz="1200" dirty="0"/>
          </a:p>
        </p:txBody>
      </p:sp>
      <p:sp>
        <p:nvSpPr>
          <p:cNvPr id="12" name="Shape 8"/>
          <p:cNvSpPr/>
          <p:nvPr/>
        </p:nvSpPr>
        <p:spPr>
          <a:xfrm>
            <a:off x="2835870" y="1426105"/>
            <a:ext cx="2080287" cy="2153708"/>
          </a:xfrm>
          <a:prstGeom prst="roundRect">
            <a:avLst>
              <a:gd name="adj" fmla="val 4579"/>
            </a:avLst>
          </a:prstGeom>
          <a:solidFill>
            <a:srgbClr val="FFFFFF"/>
          </a:solidFill>
          <a:ln w="12700">
            <a:solidFill>
              <a:srgbClr val="DDE2EC"/>
            </a:solidFill>
            <a:prstDash val="solid"/>
          </a:ln>
        </p:spPr>
        <p:txBody>
          <a:bodyPr/>
          <a:lstStyle/>
          <a:p>
            <a:endParaRPr lang="en-IN"/>
          </a:p>
        </p:txBody>
      </p:sp>
      <p:sp>
        <p:nvSpPr>
          <p:cNvPr id="13" name="Text 9"/>
          <p:cNvSpPr/>
          <p:nvPr/>
        </p:nvSpPr>
        <p:spPr>
          <a:xfrm>
            <a:off x="2994620" y="1584855"/>
            <a:ext cx="18156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02</a:t>
            </a:r>
            <a:endParaRPr lang="en-US" sz="1200" dirty="0"/>
          </a:p>
        </p:txBody>
      </p:sp>
      <p:sp>
        <p:nvSpPr>
          <p:cNvPr id="14" name="Text 10"/>
          <p:cNvSpPr/>
          <p:nvPr/>
        </p:nvSpPr>
        <p:spPr>
          <a:xfrm>
            <a:off x="2994620" y="1861676"/>
            <a:ext cx="1815670" cy="6197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Procurement, Planning and Contracts</a:t>
            </a:r>
            <a:endParaRPr lang="en-US" sz="1300" dirty="0"/>
          </a:p>
        </p:txBody>
      </p:sp>
      <p:sp>
        <p:nvSpPr>
          <p:cNvPr id="15" name="Text 11"/>
          <p:cNvSpPr/>
          <p:nvPr/>
        </p:nvSpPr>
        <p:spPr>
          <a:xfrm>
            <a:off x="2994620" y="2304336"/>
            <a:ext cx="1815670"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10 internal · 6 supplier</a:t>
            </a:r>
            <a:endParaRPr lang="en-US" sz="1200" dirty="0"/>
          </a:p>
        </p:txBody>
      </p:sp>
      <p:sp>
        <p:nvSpPr>
          <p:cNvPr id="16" name="Text 12"/>
          <p:cNvSpPr/>
          <p:nvPr/>
        </p:nvSpPr>
        <p:spPr>
          <a:xfrm>
            <a:off x="2994620" y="2565942"/>
            <a:ext cx="18156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Allocation, auto-PO, delivery commitment, e-ASN</a:t>
            </a:r>
            <a:endParaRPr lang="en-US" sz="1200" dirty="0"/>
          </a:p>
        </p:txBody>
      </p:sp>
      <p:sp>
        <p:nvSpPr>
          <p:cNvPr id="17" name="Shape 13"/>
          <p:cNvSpPr/>
          <p:nvPr/>
        </p:nvSpPr>
        <p:spPr>
          <a:xfrm>
            <a:off x="5055857" y="1426105"/>
            <a:ext cx="2080220" cy="2153708"/>
          </a:xfrm>
          <a:prstGeom prst="roundRect">
            <a:avLst>
              <a:gd name="adj" fmla="val 4579"/>
            </a:avLst>
          </a:prstGeom>
          <a:solidFill>
            <a:srgbClr val="FFFFFF"/>
          </a:solidFill>
          <a:ln w="12700">
            <a:solidFill>
              <a:srgbClr val="DDE2EC"/>
            </a:solidFill>
            <a:prstDash val="solid"/>
          </a:ln>
        </p:spPr>
        <p:txBody>
          <a:bodyPr/>
          <a:lstStyle/>
          <a:p>
            <a:endParaRPr lang="en-IN"/>
          </a:p>
        </p:txBody>
      </p:sp>
      <p:sp>
        <p:nvSpPr>
          <p:cNvPr id="18" name="Text 14"/>
          <p:cNvSpPr/>
          <p:nvPr/>
        </p:nvSpPr>
        <p:spPr>
          <a:xfrm>
            <a:off x="5214607" y="1584855"/>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03</a:t>
            </a:r>
            <a:endParaRPr lang="en-US" sz="1200" dirty="0"/>
          </a:p>
        </p:txBody>
      </p:sp>
      <p:sp>
        <p:nvSpPr>
          <p:cNvPr id="19" name="Text 15"/>
          <p:cNvSpPr/>
          <p:nvPr/>
        </p:nvSpPr>
        <p:spPr>
          <a:xfrm>
            <a:off x="5214607" y="1861676"/>
            <a:ext cx="18156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Supplier Performance Evaluation</a:t>
            </a:r>
            <a:endParaRPr lang="en-US" sz="1300" dirty="0"/>
          </a:p>
        </p:txBody>
      </p:sp>
      <p:sp>
        <p:nvSpPr>
          <p:cNvPr id="20" name="Text 16"/>
          <p:cNvSpPr/>
          <p:nvPr/>
        </p:nvSpPr>
        <p:spPr>
          <a:xfrm>
            <a:off x="5214607" y="2321389"/>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4 internal · 2 supplier</a:t>
            </a:r>
            <a:endParaRPr lang="en-US" sz="1200" dirty="0"/>
          </a:p>
        </p:txBody>
      </p:sp>
      <p:sp>
        <p:nvSpPr>
          <p:cNvPr id="21" name="Text 17"/>
          <p:cNvSpPr/>
          <p:nvPr/>
        </p:nvSpPr>
        <p:spPr>
          <a:xfrm>
            <a:off x="5214607" y="2582996"/>
            <a:ext cx="181560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Automated scorecards, reports, acknowledgment</a:t>
            </a:r>
            <a:endParaRPr lang="en-US" sz="1200" dirty="0"/>
          </a:p>
        </p:txBody>
      </p:sp>
      <p:sp>
        <p:nvSpPr>
          <p:cNvPr id="22" name="Shape 18"/>
          <p:cNvSpPr/>
          <p:nvPr/>
        </p:nvSpPr>
        <p:spPr>
          <a:xfrm>
            <a:off x="7275778" y="1426105"/>
            <a:ext cx="2080287" cy="2153708"/>
          </a:xfrm>
          <a:prstGeom prst="roundRect">
            <a:avLst>
              <a:gd name="adj" fmla="val 4579"/>
            </a:avLst>
          </a:prstGeom>
          <a:solidFill>
            <a:srgbClr val="FFFFFF"/>
          </a:solidFill>
          <a:ln w="12700">
            <a:solidFill>
              <a:srgbClr val="DDE2EC"/>
            </a:solidFill>
            <a:prstDash val="solid"/>
          </a:ln>
        </p:spPr>
        <p:txBody>
          <a:bodyPr/>
          <a:lstStyle/>
          <a:p>
            <a:endParaRPr lang="en-IN"/>
          </a:p>
        </p:txBody>
      </p:sp>
      <p:sp>
        <p:nvSpPr>
          <p:cNvPr id="23" name="Text 19"/>
          <p:cNvSpPr/>
          <p:nvPr/>
        </p:nvSpPr>
        <p:spPr>
          <a:xfrm>
            <a:off x="7434528" y="1584855"/>
            <a:ext cx="18156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04</a:t>
            </a:r>
            <a:endParaRPr lang="en-US" sz="1200" dirty="0"/>
          </a:p>
        </p:txBody>
      </p:sp>
      <p:sp>
        <p:nvSpPr>
          <p:cNvPr id="24" name="Text 20"/>
          <p:cNvSpPr/>
          <p:nvPr/>
        </p:nvSpPr>
        <p:spPr>
          <a:xfrm>
            <a:off x="7434528" y="1861676"/>
            <a:ext cx="1815670"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Analytics and Reporting</a:t>
            </a:r>
            <a:endParaRPr lang="en-US" sz="1300" dirty="0"/>
          </a:p>
        </p:txBody>
      </p:sp>
      <p:sp>
        <p:nvSpPr>
          <p:cNvPr id="25" name="Text 21"/>
          <p:cNvSpPr/>
          <p:nvPr/>
        </p:nvSpPr>
        <p:spPr>
          <a:xfrm>
            <a:off x="7434528" y="2321389"/>
            <a:ext cx="1815670"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6 internal · 1 supplier</a:t>
            </a:r>
            <a:endParaRPr lang="en-US" sz="1200" dirty="0"/>
          </a:p>
        </p:txBody>
      </p:sp>
      <p:sp>
        <p:nvSpPr>
          <p:cNvPr id="26" name="Text 22"/>
          <p:cNvSpPr/>
          <p:nvPr/>
        </p:nvSpPr>
        <p:spPr>
          <a:xfrm>
            <a:off x="7434528" y="2582996"/>
            <a:ext cx="18156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Spend, price trends, KPI dashboards, budget</a:t>
            </a:r>
            <a:endParaRPr lang="en-US" sz="1200" dirty="0"/>
          </a:p>
        </p:txBody>
      </p:sp>
      <p:sp>
        <p:nvSpPr>
          <p:cNvPr id="27" name="Shape 23"/>
          <p:cNvSpPr/>
          <p:nvPr/>
        </p:nvSpPr>
        <p:spPr>
          <a:xfrm>
            <a:off x="9495764" y="1426105"/>
            <a:ext cx="2080220" cy="2153708"/>
          </a:xfrm>
          <a:prstGeom prst="roundRect">
            <a:avLst>
              <a:gd name="adj" fmla="val 4579"/>
            </a:avLst>
          </a:prstGeom>
          <a:solidFill>
            <a:srgbClr val="FFFFFF"/>
          </a:solidFill>
          <a:ln w="12700">
            <a:solidFill>
              <a:srgbClr val="DDE2EC"/>
            </a:solidFill>
            <a:prstDash val="solid"/>
          </a:ln>
        </p:spPr>
        <p:txBody>
          <a:bodyPr/>
          <a:lstStyle/>
          <a:p>
            <a:endParaRPr lang="en-IN"/>
          </a:p>
        </p:txBody>
      </p:sp>
      <p:sp>
        <p:nvSpPr>
          <p:cNvPr id="28" name="Text 24"/>
          <p:cNvSpPr/>
          <p:nvPr/>
        </p:nvSpPr>
        <p:spPr>
          <a:xfrm>
            <a:off x="9654514" y="1584855"/>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05</a:t>
            </a:r>
            <a:endParaRPr lang="en-US" sz="1200" dirty="0"/>
          </a:p>
        </p:txBody>
      </p:sp>
      <p:sp>
        <p:nvSpPr>
          <p:cNvPr id="29" name="Text 25"/>
          <p:cNvSpPr/>
          <p:nvPr/>
        </p:nvSpPr>
        <p:spPr>
          <a:xfrm>
            <a:off x="9654514" y="1861676"/>
            <a:ext cx="18156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Communication and Collaboration</a:t>
            </a:r>
            <a:endParaRPr lang="en-US" sz="1300" dirty="0"/>
          </a:p>
        </p:txBody>
      </p:sp>
      <p:sp>
        <p:nvSpPr>
          <p:cNvPr id="30" name="Text 26"/>
          <p:cNvSpPr/>
          <p:nvPr/>
        </p:nvSpPr>
        <p:spPr>
          <a:xfrm>
            <a:off x="9654514" y="2321389"/>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3 internal · 2 supplier</a:t>
            </a:r>
            <a:endParaRPr lang="en-US" sz="1200" dirty="0"/>
          </a:p>
        </p:txBody>
      </p:sp>
      <p:sp>
        <p:nvSpPr>
          <p:cNvPr id="31" name="Text 27"/>
          <p:cNvSpPr/>
          <p:nvPr/>
        </p:nvSpPr>
        <p:spPr>
          <a:xfrm>
            <a:off x="9654514" y="2582996"/>
            <a:ext cx="181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Supplier portal, secure documents, audit trail</a:t>
            </a:r>
            <a:endParaRPr lang="en-US" sz="1200" dirty="0"/>
          </a:p>
        </p:txBody>
      </p:sp>
      <p:sp>
        <p:nvSpPr>
          <p:cNvPr id="32" name="Shape 28"/>
          <p:cNvSpPr/>
          <p:nvPr/>
        </p:nvSpPr>
        <p:spPr>
          <a:xfrm>
            <a:off x="615950" y="3719512"/>
            <a:ext cx="2080220" cy="1742281"/>
          </a:xfrm>
          <a:prstGeom prst="roundRect">
            <a:avLst>
              <a:gd name="adj" fmla="val 5467"/>
            </a:avLst>
          </a:prstGeom>
          <a:solidFill>
            <a:srgbClr val="FFFFFF"/>
          </a:solidFill>
          <a:ln w="12700">
            <a:solidFill>
              <a:srgbClr val="DDE2EC"/>
            </a:solidFill>
            <a:prstDash val="solid"/>
          </a:ln>
        </p:spPr>
        <p:txBody>
          <a:bodyPr/>
          <a:lstStyle/>
          <a:p>
            <a:endParaRPr lang="en-IN"/>
          </a:p>
        </p:txBody>
      </p:sp>
      <p:sp>
        <p:nvSpPr>
          <p:cNvPr id="33" name="Text 29"/>
          <p:cNvSpPr/>
          <p:nvPr/>
        </p:nvSpPr>
        <p:spPr>
          <a:xfrm>
            <a:off x="774700" y="3878263"/>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06</a:t>
            </a:r>
            <a:endParaRPr lang="en-US" sz="1200" dirty="0"/>
          </a:p>
        </p:txBody>
      </p:sp>
      <p:sp>
        <p:nvSpPr>
          <p:cNvPr id="34" name="Text 30"/>
          <p:cNvSpPr/>
          <p:nvPr/>
        </p:nvSpPr>
        <p:spPr>
          <a:xfrm>
            <a:off x="774700" y="4155083"/>
            <a:ext cx="1815602"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Quality Management</a:t>
            </a:r>
            <a:endParaRPr lang="en-US" sz="1300" dirty="0"/>
          </a:p>
        </p:txBody>
      </p:sp>
      <p:sp>
        <p:nvSpPr>
          <p:cNvPr id="35" name="Text 31"/>
          <p:cNvSpPr/>
          <p:nvPr/>
        </p:nvSpPr>
        <p:spPr>
          <a:xfrm>
            <a:off x="774700" y="4416690"/>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6 internal · 3 supplier</a:t>
            </a:r>
            <a:endParaRPr lang="en-US" sz="1200" dirty="0"/>
          </a:p>
        </p:txBody>
      </p:sp>
      <p:sp>
        <p:nvSpPr>
          <p:cNvPr id="36" name="Text 32"/>
          <p:cNvSpPr/>
          <p:nvPr/>
        </p:nvSpPr>
        <p:spPr>
          <a:xfrm>
            <a:off x="774700" y="4678297"/>
            <a:ext cx="181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NC database, CAR workflow, LIMS link</a:t>
            </a:r>
            <a:endParaRPr lang="en-US" sz="1200" dirty="0"/>
          </a:p>
        </p:txBody>
      </p:sp>
      <p:sp>
        <p:nvSpPr>
          <p:cNvPr id="37" name="Shape 33"/>
          <p:cNvSpPr/>
          <p:nvPr/>
        </p:nvSpPr>
        <p:spPr>
          <a:xfrm>
            <a:off x="2835870" y="3719512"/>
            <a:ext cx="2080287" cy="1742281"/>
          </a:xfrm>
          <a:prstGeom prst="roundRect">
            <a:avLst>
              <a:gd name="adj" fmla="val 5467"/>
            </a:avLst>
          </a:prstGeom>
          <a:solidFill>
            <a:srgbClr val="FFFFFF"/>
          </a:solidFill>
          <a:ln w="12700">
            <a:solidFill>
              <a:srgbClr val="DDE2EC"/>
            </a:solidFill>
            <a:prstDash val="solid"/>
          </a:ln>
        </p:spPr>
        <p:txBody>
          <a:bodyPr/>
          <a:lstStyle/>
          <a:p>
            <a:endParaRPr lang="en-IN"/>
          </a:p>
        </p:txBody>
      </p:sp>
      <p:sp>
        <p:nvSpPr>
          <p:cNvPr id="38" name="Text 34"/>
          <p:cNvSpPr/>
          <p:nvPr/>
        </p:nvSpPr>
        <p:spPr>
          <a:xfrm>
            <a:off x="2994620" y="3878263"/>
            <a:ext cx="18156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07</a:t>
            </a:r>
            <a:endParaRPr lang="en-US" sz="1200" dirty="0"/>
          </a:p>
        </p:txBody>
      </p:sp>
      <p:sp>
        <p:nvSpPr>
          <p:cNvPr id="39" name="Text 35"/>
          <p:cNvSpPr/>
          <p:nvPr/>
        </p:nvSpPr>
        <p:spPr>
          <a:xfrm>
            <a:off x="2994620" y="4155083"/>
            <a:ext cx="1915187" cy="223507"/>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Audit and Compliance</a:t>
            </a:r>
            <a:endParaRPr lang="en-US" sz="1300" dirty="0"/>
          </a:p>
        </p:txBody>
      </p:sp>
      <p:sp>
        <p:nvSpPr>
          <p:cNvPr id="40" name="Text 36"/>
          <p:cNvSpPr/>
          <p:nvPr/>
        </p:nvSpPr>
        <p:spPr>
          <a:xfrm>
            <a:off x="2994620" y="4416690"/>
            <a:ext cx="1815670"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6 internal · 5 supplier</a:t>
            </a:r>
            <a:endParaRPr lang="en-US" sz="1200" dirty="0"/>
          </a:p>
        </p:txBody>
      </p:sp>
      <p:sp>
        <p:nvSpPr>
          <p:cNvPr id="41" name="Text 37"/>
          <p:cNvSpPr/>
          <p:nvPr/>
        </p:nvSpPr>
        <p:spPr>
          <a:xfrm>
            <a:off x="2994620" y="4678297"/>
            <a:ext cx="18156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Audit plans, checklists, findings, closure</a:t>
            </a:r>
            <a:endParaRPr lang="en-US" sz="1200" dirty="0"/>
          </a:p>
        </p:txBody>
      </p:sp>
      <p:sp>
        <p:nvSpPr>
          <p:cNvPr id="42" name="Shape 38"/>
          <p:cNvSpPr/>
          <p:nvPr/>
        </p:nvSpPr>
        <p:spPr>
          <a:xfrm>
            <a:off x="5055857" y="3719512"/>
            <a:ext cx="2080220" cy="1742281"/>
          </a:xfrm>
          <a:prstGeom prst="roundRect">
            <a:avLst>
              <a:gd name="adj" fmla="val 5467"/>
            </a:avLst>
          </a:prstGeom>
          <a:solidFill>
            <a:srgbClr val="FFFFFF"/>
          </a:solidFill>
          <a:ln w="12700">
            <a:solidFill>
              <a:srgbClr val="DDE2EC"/>
            </a:solidFill>
            <a:prstDash val="solid"/>
          </a:ln>
        </p:spPr>
        <p:txBody>
          <a:bodyPr/>
          <a:lstStyle/>
          <a:p>
            <a:endParaRPr lang="en-IN"/>
          </a:p>
        </p:txBody>
      </p:sp>
      <p:sp>
        <p:nvSpPr>
          <p:cNvPr id="43" name="Text 39"/>
          <p:cNvSpPr/>
          <p:nvPr/>
        </p:nvSpPr>
        <p:spPr>
          <a:xfrm>
            <a:off x="5214607" y="3878263"/>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08</a:t>
            </a:r>
            <a:endParaRPr lang="en-US" sz="1200" dirty="0"/>
          </a:p>
        </p:txBody>
      </p:sp>
      <p:sp>
        <p:nvSpPr>
          <p:cNvPr id="44" name="Text 40"/>
          <p:cNvSpPr/>
          <p:nvPr/>
        </p:nvSpPr>
        <p:spPr>
          <a:xfrm>
            <a:off x="5214607" y="4155083"/>
            <a:ext cx="18156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Risk and Sustainability</a:t>
            </a:r>
            <a:endParaRPr lang="en-US" sz="1300" dirty="0"/>
          </a:p>
        </p:txBody>
      </p:sp>
      <p:sp>
        <p:nvSpPr>
          <p:cNvPr id="45" name="Text 41"/>
          <p:cNvSpPr/>
          <p:nvPr/>
        </p:nvSpPr>
        <p:spPr>
          <a:xfrm>
            <a:off x="5214607" y="4381712"/>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3 internal · 4 supplier</a:t>
            </a:r>
            <a:endParaRPr lang="en-US" sz="1200" dirty="0"/>
          </a:p>
        </p:txBody>
      </p:sp>
      <p:sp>
        <p:nvSpPr>
          <p:cNvPr id="46" name="Text 42"/>
          <p:cNvSpPr/>
          <p:nvPr/>
        </p:nvSpPr>
        <p:spPr>
          <a:xfrm>
            <a:off x="5214607" y="4643318"/>
            <a:ext cx="181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Risk scoring, tiering, ESG, business continuity</a:t>
            </a:r>
            <a:endParaRPr lang="en-US" sz="1200" dirty="0"/>
          </a:p>
        </p:txBody>
      </p:sp>
      <p:sp>
        <p:nvSpPr>
          <p:cNvPr id="47" name="Shape 43"/>
          <p:cNvSpPr/>
          <p:nvPr/>
        </p:nvSpPr>
        <p:spPr>
          <a:xfrm>
            <a:off x="7275778" y="3719512"/>
            <a:ext cx="2080287" cy="1742281"/>
          </a:xfrm>
          <a:prstGeom prst="roundRect">
            <a:avLst>
              <a:gd name="adj" fmla="val 5467"/>
            </a:avLst>
          </a:prstGeom>
          <a:solidFill>
            <a:srgbClr val="FFFFFF"/>
          </a:solidFill>
          <a:ln w="12700">
            <a:solidFill>
              <a:srgbClr val="DDE2EC"/>
            </a:solidFill>
            <a:prstDash val="solid"/>
          </a:ln>
        </p:spPr>
        <p:txBody>
          <a:bodyPr/>
          <a:lstStyle/>
          <a:p>
            <a:endParaRPr lang="en-IN"/>
          </a:p>
        </p:txBody>
      </p:sp>
      <p:sp>
        <p:nvSpPr>
          <p:cNvPr id="48" name="Text 44"/>
          <p:cNvSpPr/>
          <p:nvPr/>
        </p:nvSpPr>
        <p:spPr>
          <a:xfrm>
            <a:off x="7434528" y="3878263"/>
            <a:ext cx="18156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09</a:t>
            </a:r>
            <a:endParaRPr lang="en-US" sz="1200" dirty="0"/>
          </a:p>
        </p:txBody>
      </p:sp>
      <p:sp>
        <p:nvSpPr>
          <p:cNvPr id="49" name="Text 45"/>
          <p:cNvSpPr/>
          <p:nvPr/>
        </p:nvSpPr>
        <p:spPr>
          <a:xfrm>
            <a:off x="7434528" y="4155083"/>
            <a:ext cx="1955368"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Integration Capabilities</a:t>
            </a:r>
            <a:endParaRPr lang="en-US" sz="1300" dirty="0"/>
          </a:p>
        </p:txBody>
      </p:sp>
      <p:sp>
        <p:nvSpPr>
          <p:cNvPr id="50" name="Text 46"/>
          <p:cNvSpPr/>
          <p:nvPr/>
        </p:nvSpPr>
        <p:spPr>
          <a:xfrm>
            <a:off x="7434528" y="4435501"/>
            <a:ext cx="1815670"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4 internal · 4 supplier</a:t>
            </a:r>
            <a:endParaRPr lang="en-US" sz="1200" dirty="0"/>
          </a:p>
        </p:txBody>
      </p:sp>
      <p:sp>
        <p:nvSpPr>
          <p:cNvPr id="51" name="Text 47"/>
          <p:cNvSpPr/>
          <p:nvPr/>
        </p:nvSpPr>
        <p:spPr>
          <a:xfrm>
            <a:off x="7434528" y="4697107"/>
            <a:ext cx="181567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SAP S/4HANA, Jedox, Infor WMS, LIMS/QMS</a:t>
            </a:r>
            <a:endParaRPr lang="en-US" sz="1200" dirty="0"/>
          </a:p>
        </p:txBody>
      </p:sp>
      <p:sp>
        <p:nvSpPr>
          <p:cNvPr id="52" name="Shape 48"/>
          <p:cNvSpPr/>
          <p:nvPr/>
        </p:nvSpPr>
        <p:spPr>
          <a:xfrm>
            <a:off x="9495764" y="3719512"/>
            <a:ext cx="2080220" cy="1742281"/>
          </a:xfrm>
          <a:prstGeom prst="roundRect">
            <a:avLst>
              <a:gd name="adj" fmla="val 5467"/>
            </a:avLst>
          </a:prstGeom>
          <a:solidFill>
            <a:srgbClr val="FFFFFF"/>
          </a:solidFill>
          <a:ln w="12700">
            <a:solidFill>
              <a:srgbClr val="DDE2EC"/>
            </a:solidFill>
            <a:prstDash val="solid"/>
          </a:ln>
        </p:spPr>
        <p:txBody>
          <a:bodyPr/>
          <a:lstStyle/>
          <a:p>
            <a:endParaRPr lang="en-IN"/>
          </a:p>
        </p:txBody>
      </p:sp>
      <p:sp>
        <p:nvSpPr>
          <p:cNvPr id="53" name="Text 49"/>
          <p:cNvSpPr/>
          <p:nvPr/>
        </p:nvSpPr>
        <p:spPr>
          <a:xfrm>
            <a:off x="9654514" y="3878263"/>
            <a:ext cx="181560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6232A"/>
                </a:solidFill>
                <a:latin typeface="Public Sans" pitchFamily="34" charset="0"/>
                <a:ea typeface="Public Sans" pitchFamily="34" charset="-122"/>
                <a:cs typeface="Public Sans" pitchFamily="34" charset="-120"/>
              </a:rPr>
              <a:t>10</a:t>
            </a:r>
            <a:endParaRPr lang="en-US" sz="1200" dirty="0"/>
          </a:p>
        </p:txBody>
      </p:sp>
      <p:sp>
        <p:nvSpPr>
          <p:cNvPr id="54" name="Text 50"/>
          <p:cNvSpPr/>
          <p:nvPr/>
        </p:nvSpPr>
        <p:spPr>
          <a:xfrm>
            <a:off x="9654514" y="4155083"/>
            <a:ext cx="1815602" cy="421614"/>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B2E6B"/>
                </a:solidFill>
                <a:latin typeface="Public Sans" pitchFamily="34" charset="0"/>
                <a:ea typeface="Public Sans" pitchFamily="34" charset="-122"/>
                <a:cs typeface="Public Sans" pitchFamily="34" charset="-120"/>
              </a:rPr>
              <a:t>Security and Accessibility</a:t>
            </a:r>
            <a:endParaRPr lang="en-US" sz="1300" dirty="0"/>
          </a:p>
        </p:txBody>
      </p:sp>
      <p:sp>
        <p:nvSpPr>
          <p:cNvPr id="55" name="Text 51"/>
          <p:cNvSpPr/>
          <p:nvPr/>
        </p:nvSpPr>
        <p:spPr>
          <a:xfrm>
            <a:off x="9654514" y="4614797"/>
            <a:ext cx="1815602" cy="223507"/>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B2333"/>
                </a:solidFill>
                <a:latin typeface="Public Sans" pitchFamily="34" charset="0"/>
                <a:ea typeface="Public Sans" pitchFamily="34" charset="-122"/>
                <a:cs typeface="Public Sans" pitchFamily="34" charset="-120"/>
              </a:rPr>
              <a:t>4 internal · 2 supplier</a:t>
            </a:r>
            <a:endParaRPr lang="en-US" sz="1200" dirty="0"/>
          </a:p>
        </p:txBody>
      </p:sp>
      <p:sp>
        <p:nvSpPr>
          <p:cNvPr id="56" name="Text 52"/>
          <p:cNvSpPr/>
          <p:nvPr/>
        </p:nvSpPr>
        <p:spPr>
          <a:xfrm>
            <a:off x="9654514" y="4876403"/>
            <a:ext cx="18156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Role-based access, e-signature, workflows</a:t>
            </a:r>
            <a:endParaRPr lang="en-US" sz="1200" dirty="0"/>
          </a:p>
        </p:txBody>
      </p:sp>
      <p:sp>
        <p:nvSpPr>
          <p:cNvPr id="57" name="Text 53"/>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58" name="Text 54"/>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5</a:t>
            </a:r>
            <a:endParaRPr lang="en-US" sz="1200" dirty="0"/>
          </a:p>
        </p:txBody>
      </p:sp>
      <p:pic>
        <p:nvPicPr>
          <p:cNvPr id="60" name="Picture 59" descr="Durvah Logo Brand New.jpg">
            <a:extLst>
              <a:ext uri="{FF2B5EF4-FFF2-40B4-BE49-F238E27FC236}">
                <a16:creationId xmlns:a16="http://schemas.microsoft.com/office/drawing/2014/main" id="{B3B5861C-C1D8-1E9F-45F6-FF63C5F425A5}"/>
              </a:ext>
            </a:extLst>
          </p:cNvPr>
          <p:cNvPicPr>
            <a:picLocks noChangeAspect="1"/>
          </p:cNvPicPr>
          <p:nvPr/>
        </p:nvPicPr>
        <p:blipFill>
          <a:blip r:embed="rId5"/>
          <a:stretch>
            <a:fillRect/>
          </a:stretch>
        </p:blipFill>
        <p:spPr>
          <a:xfrm>
            <a:off x="10363201" y="228600"/>
            <a:ext cx="1147482" cy="4509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6F7FA"/>
        </a:solidFill>
        <a:effectLst/>
      </p:bgPr>
    </p:bg>
    <p:spTree>
      <p:nvGrpSpPr>
        <p:cNvPr id="1" name=""/>
        <p:cNvGrpSpPr/>
        <p:nvPr/>
      </p:nvGrpSpPr>
      <p:grpSpPr>
        <a:xfrm>
          <a:off x="0" y="0"/>
          <a:ext cx="0" cy="0"/>
          <a:chOff x="0" y="0"/>
          <a:chExt cx="0" cy="0"/>
        </a:xfrm>
      </p:grpSpPr>
      <p:pic>
        <p:nvPicPr>
          <p:cNvPr id="2" name="Image 0" descr="Ajinomoto logo"/>
          <p:cNvPicPr>
            <a:picLocks noChangeAspect="1"/>
          </p:cNvPicPr>
          <p:nvPr/>
        </p:nvPicPr>
        <p:blipFill>
          <a:blip r:embed="rId3"/>
          <a:srcRect l="-26" r="-26"/>
          <a:stretch/>
        </p:blipFill>
        <p:spPr>
          <a:xfrm>
            <a:off x="9398000" y="254000"/>
            <a:ext cx="660400" cy="463550"/>
          </a:xfrm>
          <a:prstGeom prst="rect">
            <a:avLst/>
          </a:prstGeom>
        </p:spPr>
      </p:pic>
      <p:sp>
        <p:nvSpPr>
          <p:cNvPr id="4" name="Text 0"/>
          <p:cNvSpPr/>
          <p:nvPr/>
        </p:nvSpPr>
        <p:spPr>
          <a:xfrm>
            <a:off x="609600" y="304800"/>
            <a:ext cx="75215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WHAT WE HEARD</a:t>
            </a:r>
            <a:endParaRPr lang="en-US" sz="1200" dirty="0"/>
          </a:p>
        </p:txBody>
      </p:sp>
      <p:sp>
        <p:nvSpPr>
          <p:cNvPr id="5" name="Text 1"/>
          <p:cNvSpPr>
            <a:spLocks noGrp="1"/>
          </p:cNvSpPr>
          <p:nvPr>
            <p:ph type="title"/>
          </p:nvPr>
        </p:nvSpPr>
        <p:spPr>
          <a:xfrm>
            <a:off x="609600" y="568920"/>
            <a:ext cx="8763000"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People, Process, Technology</a:t>
            </a:r>
            <a:endParaRPr lang="en-US" sz="2800" dirty="0"/>
          </a:p>
        </p:txBody>
      </p:sp>
      <p:sp>
        <p:nvSpPr>
          <p:cNvPr id="6" name="Shape 2"/>
          <p:cNvSpPr/>
          <p:nvPr/>
        </p:nvSpPr>
        <p:spPr>
          <a:xfrm>
            <a:off x="615950" y="1546107"/>
            <a:ext cx="3543300" cy="3918810"/>
          </a:xfrm>
          <a:prstGeom prst="roundRect">
            <a:avLst>
              <a:gd name="adj" fmla="val 2688"/>
            </a:avLst>
          </a:prstGeom>
          <a:solidFill>
            <a:srgbClr val="FFFFFF"/>
          </a:solidFill>
          <a:ln w="12700">
            <a:solidFill>
              <a:srgbClr val="DDE2EC"/>
            </a:solidFill>
            <a:prstDash val="solid"/>
          </a:ln>
        </p:spPr>
        <p:txBody>
          <a:bodyPr/>
          <a:lstStyle/>
          <a:p>
            <a:endParaRPr lang="en-IN"/>
          </a:p>
        </p:txBody>
      </p:sp>
      <p:sp>
        <p:nvSpPr>
          <p:cNvPr id="7" name="Text 3"/>
          <p:cNvSpPr/>
          <p:nvPr/>
        </p:nvSpPr>
        <p:spPr>
          <a:xfrm>
            <a:off x="800100" y="1730257"/>
            <a:ext cx="925909" cy="314920"/>
          </a:xfrm>
          <a:prstGeom prst="roundRect">
            <a:avLst>
              <a:gd name="adj" fmla="val 50000"/>
            </a:avLst>
          </a:prstGeom>
          <a:solidFill>
            <a:srgbClr val="0B2E6B"/>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Public Sans" pitchFamily="34" charset="0"/>
                <a:ea typeface="Public Sans" pitchFamily="34" charset="-122"/>
                <a:cs typeface="Public Sans" pitchFamily="34" charset="-120"/>
              </a:rPr>
              <a:t>PEOPLE</a:t>
            </a:r>
            <a:endParaRPr lang="en-US" sz="1200" dirty="0"/>
          </a:p>
        </p:txBody>
      </p:sp>
      <p:sp>
        <p:nvSpPr>
          <p:cNvPr id="8" name="Text 4"/>
          <p:cNvSpPr/>
          <p:nvPr/>
        </p:nvSpPr>
        <p:spPr>
          <a:xfrm>
            <a:off x="800100" y="2146777"/>
            <a:ext cx="3270250" cy="543454"/>
          </a:xfrm>
          <a:prstGeom prst="rect">
            <a:avLst/>
          </a:prstGeom>
          <a:noFill/>
          <a:ln/>
        </p:spPr>
        <p:txBody>
          <a:bodyPr wrap="square" lIns="0" tIns="0" rIns="0" bIns="0" rtlCol="0" anchor="t">
            <a:normAutofit/>
          </a:bodyPr>
          <a:lstStyle/>
          <a:p>
            <a:pPr>
              <a:lnSpc>
                <a:spcPts val="2160"/>
              </a:lnSpc>
            </a:pPr>
            <a:r>
              <a:rPr lang="en-US" sz="1700" b="1" dirty="0">
                <a:solidFill>
                  <a:srgbClr val="0B2E6B"/>
                </a:solidFill>
                <a:latin typeface="Public Sans" pitchFamily="34" charset="0"/>
              </a:rPr>
              <a:t>Effort</a:t>
            </a:r>
            <a:r>
              <a:rPr lang="en-US" sz="1600" b="1" dirty="0">
                <a:solidFill>
                  <a:srgbClr val="F7FAFC"/>
                </a:solidFill>
                <a:latin typeface="Caladea" pitchFamily="18" charset="0"/>
                <a:ea typeface="Caladea" pitchFamily="18" charset="-122"/>
                <a:cs typeface="Caladea" pitchFamily="18" charset="-120"/>
              </a:rPr>
              <a:t> </a:t>
            </a:r>
            <a:r>
              <a:rPr lang="en-US" sz="1700" b="1" dirty="0">
                <a:solidFill>
                  <a:srgbClr val="0B2E6B"/>
                </a:solidFill>
                <a:latin typeface="Public Sans" pitchFamily="34" charset="0"/>
              </a:rPr>
              <a:t>and knowledge sit with individuals</a:t>
            </a:r>
          </a:p>
        </p:txBody>
      </p:sp>
      <p:sp>
        <p:nvSpPr>
          <p:cNvPr id="9" name="Text 5"/>
          <p:cNvSpPr/>
          <p:nvPr/>
        </p:nvSpPr>
        <p:spPr>
          <a:xfrm>
            <a:off x="800100" y="2766432"/>
            <a:ext cx="3270250" cy="949854"/>
          </a:xfrm>
          <a:prstGeom prst="rect">
            <a:avLst/>
          </a:prstGeom>
          <a:noFill/>
          <a:ln/>
        </p:spPr>
        <p:txBody>
          <a:bodyPr wrap="square" lIns="0" tIns="0" rIns="0" bIns="0" rtlCol="0" anchor="t">
            <a:noAutofit/>
          </a:bodyPr>
          <a:lstStyle/>
          <a:p>
            <a:pPr>
              <a:lnSpc>
                <a:spcPts val="1820"/>
              </a:lnSpc>
            </a:pPr>
            <a:r>
              <a:rPr lang="en-US" sz="1300" b="1" dirty="0">
                <a:solidFill>
                  <a:srgbClr val="1B2333"/>
                </a:solidFill>
                <a:latin typeface="+mj-lt"/>
                <a:ea typeface="Public Sans" pitchFamily="34" charset="-122"/>
                <a:cs typeface="Public Sans" pitchFamily="34" charset="-120"/>
              </a:rPr>
              <a:t>Small core user base.</a:t>
            </a:r>
            <a:r>
              <a:rPr lang="en-US" sz="1300" dirty="0">
                <a:solidFill>
                  <a:srgbClr val="1B2333"/>
                </a:solidFill>
                <a:latin typeface="+mj-lt"/>
                <a:ea typeface="Public Sans" pitchFamily="34" charset="-122"/>
                <a:cs typeface="Public Sans" pitchFamily="34" charset="-120"/>
              </a:rPr>
              <a:t> Processes are followed very diligently.</a:t>
            </a:r>
            <a:endParaRPr lang="en-US" sz="1300" dirty="0">
              <a:latin typeface="+mj-lt"/>
            </a:endParaRPr>
          </a:p>
          <a:p>
            <a:pPr marL="0" indent="0" algn="l">
              <a:lnSpc>
                <a:spcPts val="1820"/>
              </a:lnSpc>
              <a:buNone/>
            </a:pPr>
            <a:endParaRPr lang="en-US" sz="1300" b="1" dirty="0">
              <a:solidFill>
                <a:srgbClr val="1B2333"/>
              </a:solidFill>
              <a:latin typeface="+mj-lt"/>
              <a:ea typeface="Public Sans" pitchFamily="34" charset="-122"/>
              <a:cs typeface="Public Sans" pitchFamily="34" charset="-120"/>
            </a:endParaRPr>
          </a:p>
          <a:p>
            <a:pPr marL="0" indent="0" algn="l">
              <a:lnSpc>
                <a:spcPts val="1820"/>
              </a:lnSpc>
              <a:buNone/>
            </a:pPr>
            <a:r>
              <a:rPr lang="en-US" sz="1300" b="1" dirty="0">
                <a:solidFill>
                  <a:srgbClr val="1B2333"/>
                </a:solidFill>
                <a:latin typeface="+mj-lt"/>
                <a:ea typeface="Public Sans" pitchFamily="34" charset="-122"/>
                <a:cs typeface="Public Sans" pitchFamily="34" charset="-120"/>
              </a:rPr>
              <a:t>Multiples departments:</a:t>
            </a:r>
            <a:r>
              <a:rPr lang="en-US" sz="1300" dirty="0">
                <a:solidFill>
                  <a:srgbClr val="1B2333"/>
                </a:solidFill>
                <a:latin typeface="+mj-lt"/>
                <a:ea typeface="Public Sans" pitchFamily="34" charset="-122"/>
                <a:cs typeface="Public Sans" pitchFamily="34" charset="-120"/>
              </a:rPr>
              <a:t>: R&amp;D, QA, Procurement, Finance coordination and DOA exists offline.</a:t>
            </a:r>
          </a:p>
          <a:p>
            <a:pPr marL="0" indent="0" algn="l">
              <a:lnSpc>
                <a:spcPts val="1820"/>
              </a:lnSpc>
              <a:buNone/>
            </a:pPr>
            <a:endParaRPr lang="en-US" sz="1300" dirty="0">
              <a:solidFill>
                <a:srgbClr val="1B2333"/>
              </a:solidFill>
              <a:latin typeface="+mj-lt"/>
            </a:endParaRPr>
          </a:p>
          <a:p>
            <a:pPr marL="0" indent="0" algn="l">
              <a:lnSpc>
                <a:spcPts val="1820"/>
              </a:lnSpc>
              <a:buNone/>
            </a:pPr>
            <a:r>
              <a:rPr lang="en-US" sz="1300" b="1" dirty="0">
                <a:solidFill>
                  <a:srgbClr val="1B2333"/>
                </a:solidFill>
                <a:latin typeface="+mj-lt"/>
              </a:rPr>
              <a:t>High reliance </a:t>
            </a:r>
            <a:r>
              <a:rPr lang="en-US" sz="1300" dirty="0">
                <a:solidFill>
                  <a:srgbClr val="1B2333"/>
                </a:solidFill>
                <a:latin typeface="+mj-lt"/>
              </a:rPr>
              <a:t>on manual operations and the need for automations.</a:t>
            </a:r>
            <a:endParaRPr lang="en-US" sz="1300" dirty="0">
              <a:latin typeface="+mj-lt"/>
            </a:endParaRPr>
          </a:p>
        </p:txBody>
      </p:sp>
      <p:sp>
        <p:nvSpPr>
          <p:cNvPr id="12" name="Shape 8"/>
          <p:cNvSpPr/>
          <p:nvPr/>
        </p:nvSpPr>
        <p:spPr>
          <a:xfrm>
            <a:off x="4324350" y="1546107"/>
            <a:ext cx="3543300" cy="3918810"/>
          </a:xfrm>
          <a:prstGeom prst="roundRect">
            <a:avLst>
              <a:gd name="adj" fmla="val 2688"/>
            </a:avLst>
          </a:prstGeom>
          <a:solidFill>
            <a:srgbClr val="FFFFFF"/>
          </a:solidFill>
          <a:ln w="12700">
            <a:solidFill>
              <a:srgbClr val="DDE2EC"/>
            </a:solidFill>
            <a:prstDash val="solid"/>
          </a:ln>
        </p:spPr>
        <p:txBody>
          <a:bodyPr/>
          <a:lstStyle/>
          <a:p>
            <a:endParaRPr lang="en-IN"/>
          </a:p>
        </p:txBody>
      </p:sp>
      <p:sp>
        <p:nvSpPr>
          <p:cNvPr id="13" name="Text 9"/>
          <p:cNvSpPr/>
          <p:nvPr/>
        </p:nvSpPr>
        <p:spPr>
          <a:xfrm>
            <a:off x="4508500" y="1730257"/>
            <a:ext cx="1080360" cy="314920"/>
          </a:xfrm>
          <a:prstGeom prst="roundRect">
            <a:avLst>
              <a:gd name="adj" fmla="val 50000"/>
            </a:avLst>
          </a:prstGeom>
          <a:solidFill>
            <a:srgbClr val="D6232A"/>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Public Sans" pitchFamily="34" charset="0"/>
                <a:ea typeface="Public Sans" pitchFamily="34" charset="-122"/>
                <a:cs typeface="Public Sans" pitchFamily="34" charset="-120"/>
              </a:rPr>
              <a:t>PROCESS</a:t>
            </a:r>
            <a:endParaRPr lang="en-US" sz="1200" dirty="0"/>
          </a:p>
        </p:txBody>
      </p:sp>
      <p:sp>
        <p:nvSpPr>
          <p:cNvPr id="14" name="Text 10"/>
          <p:cNvSpPr/>
          <p:nvPr/>
        </p:nvSpPr>
        <p:spPr>
          <a:xfrm>
            <a:off x="4508500" y="2146777"/>
            <a:ext cx="3270250" cy="543454"/>
          </a:xfrm>
          <a:prstGeom prst="rect">
            <a:avLst/>
          </a:prstGeom>
          <a:noFill/>
          <a:ln/>
        </p:spPr>
        <p:txBody>
          <a:bodyPr wrap="square" lIns="0" tIns="0" rIns="0" bIns="0" rtlCol="0" anchor="t">
            <a:normAutofit/>
          </a:bodyPr>
          <a:lstStyle/>
          <a:p>
            <a:pPr>
              <a:lnSpc>
                <a:spcPts val="2160"/>
              </a:lnSpc>
            </a:pPr>
            <a:r>
              <a:rPr lang="en-US" sz="1700" b="1" dirty="0">
                <a:solidFill>
                  <a:srgbClr val="0B2E6B"/>
                </a:solidFill>
                <a:latin typeface="Public Sans" pitchFamily="34" charset="0"/>
              </a:rPr>
              <a:t>Hand-offs happen outside the system</a:t>
            </a:r>
          </a:p>
        </p:txBody>
      </p:sp>
      <p:sp>
        <p:nvSpPr>
          <p:cNvPr id="15" name="Text 11"/>
          <p:cNvSpPr/>
          <p:nvPr/>
        </p:nvSpPr>
        <p:spPr>
          <a:xfrm>
            <a:off x="4508500" y="2766432"/>
            <a:ext cx="3270250" cy="7187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Stale PO data.</a:t>
            </a:r>
            <a:r>
              <a:rPr lang="en-US" sz="1300" dirty="0">
                <a:solidFill>
                  <a:srgbClr val="1B2333"/>
                </a:solidFill>
                <a:latin typeface="Public Sans" pitchFamily="34" charset="0"/>
                <a:ea typeface="Public Sans" pitchFamily="34" charset="-122"/>
                <a:cs typeface="Public Sans" pitchFamily="34" charset="-120"/>
              </a:rPr>
              <a:t> SAP PO dates are rarely amended; real schedules live in the commitment Excel and email.</a:t>
            </a:r>
            <a:endParaRPr lang="en-US" sz="1300" dirty="0"/>
          </a:p>
        </p:txBody>
      </p:sp>
      <p:sp>
        <p:nvSpPr>
          <p:cNvPr id="16" name="Text 12"/>
          <p:cNvSpPr/>
          <p:nvPr/>
        </p:nvSpPr>
        <p:spPr>
          <a:xfrm>
            <a:off x="4508500" y="3561373"/>
            <a:ext cx="3270250" cy="7187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Manual chains.</a:t>
            </a:r>
            <a:r>
              <a:rPr lang="en-US" sz="1300" dirty="0">
                <a:solidFill>
                  <a:srgbClr val="1B2333"/>
                </a:solidFill>
                <a:latin typeface="Public Sans" pitchFamily="34" charset="0"/>
                <a:ea typeface="Public Sans" pitchFamily="34" charset="-122"/>
                <a:cs typeface="Public Sans" pitchFamily="34" charset="-120"/>
              </a:rPr>
              <a:t> Onboarding, audits, NC/CAR and scorecards run on email, Excel and paper.</a:t>
            </a:r>
            <a:endParaRPr lang="en-US" sz="1300" dirty="0"/>
          </a:p>
        </p:txBody>
      </p:sp>
      <p:sp>
        <p:nvSpPr>
          <p:cNvPr id="17" name="Text 13"/>
          <p:cNvSpPr/>
          <p:nvPr/>
        </p:nvSpPr>
        <p:spPr>
          <a:xfrm>
            <a:off x="4508500" y="4356313"/>
            <a:ext cx="3270250" cy="7187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Returns without PO link.</a:t>
            </a:r>
            <a:r>
              <a:rPr lang="en-US" sz="1300" dirty="0">
                <a:solidFill>
                  <a:srgbClr val="1B2333"/>
                </a:solidFill>
                <a:latin typeface="Public Sans" pitchFamily="34" charset="0"/>
                <a:ea typeface="Public Sans" pitchFamily="34" charset="-122"/>
                <a:cs typeface="Public Sans" pitchFamily="34" charset="-120"/>
              </a:rPr>
              <a:t> Returns post as stock adjustments, so debit notes are not triggered.</a:t>
            </a:r>
            <a:endParaRPr lang="en-US" sz="1300" dirty="0"/>
          </a:p>
        </p:txBody>
      </p:sp>
      <p:sp>
        <p:nvSpPr>
          <p:cNvPr id="18" name="Shape 14"/>
          <p:cNvSpPr/>
          <p:nvPr/>
        </p:nvSpPr>
        <p:spPr>
          <a:xfrm>
            <a:off x="8032750" y="1546107"/>
            <a:ext cx="3543300" cy="3918810"/>
          </a:xfrm>
          <a:prstGeom prst="roundRect">
            <a:avLst>
              <a:gd name="adj" fmla="val 2688"/>
            </a:avLst>
          </a:prstGeom>
          <a:solidFill>
            <a:srgbClr val="FFFFFF"/>
          </a:solidFill>
          <a:ln w="12700">
            <a:solidFill>
              <a:srgbClr val="DDE2EC"/>
            </a:solidFill>
            <a:prstDash val="solid"/>
          </a:ln>
        </p:spPr>
        <p:txBody>
          <a:bodyPr/>
          <a:lstStyle/>
          <a:p>
            <a:endParaRPr lang="en-IN"/>
          </a:p>
        </p:txBody>
      </p:sp>
      <p:sp>
        <p:nvSpPr>
          <p:cNvPr id="19" name="Text 15"/>
          <p:cNvSpPr/>
          <p:nvPr/>
        </p:nvSpPr>
        <p:spPr>
          <a:xfrm>
            <a:off x="8216900" y="1730257"/>
            <a:ext cx="1442442" cy="314920"/>
          </a:xfrm>
          <a:prstGeom prst="roundRect">
            <a:avLst>
              <a:gd name="adj" fmla="val 50000"/>
            </a:avLst>
          </a:prstGeom>
          <a:solidFill>
            <a:srgbClr val="0B2E6B"/>
          </a:solidFill>
          <a:ln/>
        </p:spPr>
        <p:txBody>
          <a:bodyPr wrap="none" lIns="0" tIns="0" rIns="0" bIns="0" rtlCol="0" anchor="ctr">
            <a:normAutofit/>
          </a:bodyPr>
          <a:lstStyle/>
          <a:p>
            <a:pPr marL="0" indent="0" algn="ctr">
              <a:lnSpc>
                <a:spcPts val="1680"/>
              </a:lnSpc>
              <a:buNone/>
            </a:pPr>
            <a:r>
              <a:rPr lang="en-US" sz="1200" b="1" kern="0" spc="100" dirty="0">
                <a:solidFill>
                  <a:srgbClr val="FFFFFF"/>
                </a:solidFill>
                <a:latin typeface="Public Sans" pitchFamily="34" charset="0"/>
                <a:ea typeface="Public Sans" pitchFamily="34" charset="-122"/>
                <a:cs typeface="Public Sans" pitchFamily="34" charset="-120"/>
              </a:rPr>
              <a:t>TECHNOLOGY</a:t>
            </a:r>
            <a:endParaRPr lang="en-US" sz="1200" dirty="0"/>
          </a:p>
        </p:txBody>
      </p:sp>
      <p:sp>
        <p:nvSpPr>
          <p:cNvPr id="20" name="Text 16"/>
          <p:cNvSpPr/>
          <p:nvPr/>
        </p:nvSpPr>
        <p:spPr>
          <a:xfrm>
            <a:off x="8216900" y="2146777"/>
            <a:ext cx="3270250" cy="543454"/>
          </a:xfrm>
          <a:prstGeom prst="rect">
            <a:avLst/>
          </a:prstGeom>
          <a:noFill/>
          <a:ln/>
        </p:spPr>
        <p:txBody>
          <a:bodyPr wrap="square" lIns="0" tIns="0" rIns="0" bIns="0" rtlCol="0" anchor="t">
            <a:normAutofit/>
          </a:bodyPr>
          <a:lstStyle/>
          <a:p>
            <a:pPr marL="0" indent="0" algn="l">
              <a:lnSpc>
                <a:spcPts val="2040"/>
              </a:lnSpc>
              <a:buNone/>
            </a:pPr>
            <a:r>
              <a:rPr lang="en-US" sz="1700" b="1" dirty="0" err="1">
                <a:solidFill>
                  <a:srgbClr val="0B2E6B"/>
                </a:solidFill>
                <a:latin typeface="Public Sans" pitchFamily="34" charset="0"/>
                <a:ea typeface="Public Sans" pitchFamily="34" charset="-122"/>
                <a:cs typeface="Public Sans" pitchFamily="34" charset="-120"/>
              </a:rPr>
              <a:t>Mutiple</a:t>
            </a:r>
            <a:r>
              <a:rPr lang="en-US" sz="1700" b="1" dirty="0">
                <a:solidFill>
                  <a:srgbClr val="0B2E6B"/>
                </a:solidFill>
                <a:latin typeface="Public Sans" pitchFamily="34" charset="0"/>
                <a:ea typeface="Public Sans" pitchFamily="34" charset="-122"/>
                <a:cs typeface="Public Sans" pitchFamily="34" charset="-120"/>
              </a:rPr>
              <a:t> systems running in </a:t>
            </a:r>
            <a:r>
              <a:rPr lang="en-US" sz="1700" b="1" dirty="0" err="1">
                <a:solidFill>
                  <a:srgbClr val="0B2E6B"/>
                </a:solidFill>
                <a:latin typeface="Public Sans" pitchFamily="34" charset="0"/>
                <a:ea typeface="Public Sans" pitchFamily="34" charset="-122"/>
                <a:cs typeface="Public Sans" pitchFamily="34" charset="-120"/>
              </a:rPr>
              <a:t>SIlos</a:t>
            </a:r>
            <a:endParaRPr lang="en-US" sz="1700" dirty="0"/>
          </a:p>
        </p:txBody>
      </p:sp>
      <p:sp>
        <p:nvSpPr>
          <p:cNvPr id="21" name="Text 17"/>
          <p:cNvSpPr/>
          <p:nvPr/>
        </p:nvSpPr>
        <p:spPr>
          <a:xfrm>
            <a:off x="8216900" y="2766432"/>
            <a:ext cx="3270250" cy="718741"/>
          </a:xfrm>
          <a:prstGeom prst="rect">
            <a:avLst/>
          </a:prstGeom>
          <a:noFill/>
          <a:ln/>
        </p:spPr>
        <p:txBody>
          <a:bodyPr wrap="square" lIns="0" tIns="0" rIns="0" bIns="0" rtlCol="0" anchor="t">
            <a:noAutofit/>
          </a:bodyPr>
          <a:lstStyle/>
          <a:p>
            <a:pPr marL="155956" indent="-155956">
              <a:lnSpc>
                <a:spcPts val="1820"/>
              </a:lnSpc>
              <a:buSzPct val="100000"/>
              <a:buChar char="•"/>
            </a:pPr>
            <a:r>
              <a:rPr lang="en-US" sz="1300" b="1" dirty="0">
                <a:solidFill>
                  <a:schemeClr val="accent3"/>
                </a:solidFill>
                <a:latin typeface="+mj-lt"/>
                <a:ea typeface="Carlito" pitchFamily="34" charset="-122"/>
                <a:cs typeface="Carlito" pitchFamily="34" charset="-120"/>
              </a:rPr>
              <a:t>SAP S/4HANA </a:t>
            </a:r>
            <a:r>
              <a:rPr lang="en-US" sz="1300" dirty="0">
                <a:solidFill>
                  <a:schemeClr val="accent3"/>
                </a:solidFill>
                <a:latin typeface="+mj-lt"/>
                <a:ea typeface="Carlito" pitchFamily="34" charset="-122"/>
                <a:cs typeface="Carlito" pitchFamily="34" charset="-120"/>
              </a:rPr>
              <a:t>is in place, but standard features go unused.</a:t>
            </a:r>
          </a:p>
          <a:p>
            <a:pPr marL="155956" indent="-155956">
              <a:lnSpc>
                <a:spcPts val="1820"/>
              </a:lnSpc>
              <a:buSzPct val="100000"/>
              <a:buChar char="•"/>
            </a:pPr>
            <a:endParaRPr lang="en-US" sz="1300" dirty="0">
              <a:solidFill>
                <a:schemeClr val="accent3"/>
              </a:solidFill>
              <a:latin typeface="+mj-lt"/>
            </a:endParaRPr>
          </a:p>
          <a:p>
            <a:pPr marL="155956" indent="-155956">
              <a:lnSpc>
                <a:spcPts val="1820"/>
              </a:lnSpc>
              <a:buSzPct val="100000"/>
              <a:buChar char="•"/>
            </a:pPr>
            <a:r>
              <a:rPr lang="en-US" sz="1300" b="1" dirty="0">
                <a:solidFill>
                  <a:schemeClr val="accent3"/>
                </a:solidFill>
                <a:latin typeface="+mj-lt"/>
                <a:ea typeface="Carlito" pitchFamily="34" charset="-122"/>
                <a:cs typeface="Carlito" pitchFamily="34" charset="-120"/>
              </a:rPr>
              <a:t>No supplier portal </a:t>
            </a:r>
            <a:r>
              <a:rPr lang="en-US" sz="1300" dirty="0">
                <a:solidFill>
                  <a:schemeClr val="accent3"/>
                </a:solidFill>
                <a:latin typeface="+mj-lt"/>
                <a:ea typeface="Carlito" pitchFamily="34" charset="-122"/>
                <a:cs typeface="Carlito" pitchFamily="34" charset="-120"/>
              </a:rPr>
              <a:t>and central procurement analytics.</a:t>
            </a:r>
          </a:p>
          <a:p>
            <a:pPr marL="155956" indent="-155956">
              <a:lnSpc>
                <a:spcPts val="1820"/>
              </a:lnSpc>
              <a:buSzPct val="100000"/>
              <a:buChar char="•"/>
            </a:pPr>
            <a:endParaRPr lang="en-US" sz="1300" dirty="0">
              <a:solidFill>
                <a:schemeClr val="accent3"/>
              </a:solidFill>
              <a:latin typeface="+mj-lt"/>
            </a:endParaRPr>
          </a:p>
          <a:p>
            <a:pPr marL="155956" indent="-155956">
              <a:lnSpc>
                <a:spcPts val="1820"/>
              </a:lnSpc>
              <a:buSzPct val="100000"/>
              <a:buChar char="•"/>
            </a:pPr>
            <a:r>
              <a:rPr lang="en-US" sz="1300" dirty="0">
                <a:solidFill>
                  <a:schemeClr val="accent3"/>
                </a:solidFill>
                <a:latin typeface="+mj-lt"/>
                <a:ea typeface="Carlito" pitchFamily="34" charset="-122"/>
                <a:cs typeface="Carlito" pitchFamily="34" charset="-120"/>
              </a:rPr>
              <a:t>LIMS, the planning system and API readiness are still open.</a:t>
            </a:r>
          </a:p>
          <a:p>
            <a:pPr marL="155956" indent="-155956">
              <a:lnSpc>
                <a:spcPts val="1820"/>
              </a:lnSpc>
              <a:buSzPct val="100000"/>
              <a:buChar char="•"/>
            </a:pPr>
            <a:endParaRPr lang="en-US" sz="1300" dirty="0">
              <a:solidFill>
                <a:schemeClr val="accent3"/>
              </a:solidFill>
              <a:latin typeface="+mj-lt"/>
              <a:ea typeface="Carlito" pitchFamily="34" charset="-122"/>
            </a:endParaRPr>
          </a:p>
          <a:p>
            <a:pPr marL="155956" indent="-155956">
              <a:lnSpc>
                <a:spcPts val="1820"/>
              </a:lnSpc>
              <a:buSzPct val="100000"/>
              <a:buChar char="•"/>
            </a:pPr>
            <a:r>
              <a:rPr lang="en-US" sz="1300" dirty="0">
                <a:solidFill>
                  <a:schemeClr val="accent3"/>
                </a:solidFill>
                <a:latin typeface="+mj-lt"/>
                <a:ea typeface="Carlito" pitchFamily="34" charset="-122"/>
              </a:rPr>
              <a:t>Need for centralized reporting.</a:t>
            </a:r>
            <a:endParaRPr lang="en-US" sz="1300" dirty="0">
              <a:solidFill>
                <a:schemeClr val="accent3"/>
              </a:solidFill>
              <a:latin typeface="+mj-lt"/>
            </a:endParaRPr>
          </a:p>
        </p:txBody>
      </p:sp>
      <p:sp>
        <p:nvSpPr>
          <p:cNvPr id="25" name="Text 21"/>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26" name="Text 22"/>
          <p:cNvSpPr/>
          <p:nvPr/>
        </p:nvSpPr>
        <p:spPr>
          <a:xfrm>
            <a:off x="10765536" y="6390680"/>
            <a:ext cx="82092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rPr>
              <a:t>6</a:t>
            </a:r>
            <a:endParaRPr lang="en-US" sz="1200" dirty="0"/>
          </a:p>
        </p:txBody>
      </p:sp>
      <p:pic>
        <p:nvPicPr>
          <p:cNvPr id="28" name="Picture 27" descr="Durvah Logo Brand New.jpg">
            <a:extLst>
              <a:ext uri="{FF2B5EF4-FFF2-40B4-BE49-F238E27FC236}">
                <a16:creationId xmlns:a16="http://schemas.microsoft.com/office/drawing/2014/main" id="{C476BF16-CF80-40BB-D668-5A859026196C}"/>
              </a:ext>
            </a:extLst>
          </p:cNvPr>
          <p:cNvPicPr>
            <a:picLocks noChangeAspect="1"/>
          </p:cNvPicPr>
          <p:nvPr/>
        </p:nvPicPr>
        <p:blipFill>
          <a:blip r:embed="rId4"/>
          <a:stretch>
            <a:fillRect/>
          </a:stretch>
        </p:blipFill>
        <p:spPr>
          <a:xfrm>
            <a:off x="10363201" y="228600"/>
            <a:ext cx="1147482" cy="4509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6F7FA"/>
        </a:solidFill>
        <a:effectLst/>
      </p:bgPr>
    </p:bg>
    <p:spTree>
      <p:nvGrpSpPr>
        <p:cNvPr id="1" name=""/>
        <p:cNvGrpSpPr/>
        <p:nvPr/>
      </p:nvGrpSpPr>
      <p:grpSpPr>
        <a:xfrm>
          <a:off x="0" y="0"/>
          <a:ext cx="0" cy="0"/>
          <a:chOff x="0" y="0"/>
          <a:chExt cx="0" cy="0"/>
        </a:xfrm>
      </p:grpSpPr>
      <p:pic>
        <p:nvPicPr>
          <p:cNvPr id="2" name="Image 0" descr="Ajinomoto logo"/>
          <p:cNvPicPr>
            <a:picLocks noChangeAspect="1"/>
          </p:cNvPicPr>
          <p:nvPr/>
        </p:nvPicPr>
        <p:blipFill>
          <a:blip r:embed="rId3"/>
          <a:srcRect l="-26" r="-26"/>
          <a:stretch/>
        </p:blipFill>
        <p:spPr>
          <a:xfrm>
            <a:off x="9398000" y="254000"/>
            <a:ext cx="660400" cy="463550"/>
          </a:xfrm>
          <a:prstGeom prst="rect">
            <a:avLst/>
          </a:prstGeom>
        </p:spPr>
      </p:pic>
      <p:sp>
        <p:nvSpPr>
          <p:cNvPr id="4" name="Text 0"/>
          <p:cNvSpPr/>
          <p:nvPr/>
        </p:nvSpPr>
        <p:spPr>
          <a:xfrm>
            <a:off x="609600" y="304800"/>
            <a:ext cx="817562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GIST OF THE GAPS SO FAR</a:t>
            </a:r>
            <a:endParaRPr lang="en-US" sz="1200" dirty="0"/>
          </a:p>
        </p:txBody>
      </p:sp>
      <p:sp>
        <p:nvSpPr>
          <p:cNvPr id="5" name="Text 1"/>
          <p:cNvSpPr>
            <a:spLocks noGrp="1"/>
          </p:cNvSpPr>
          <p:nvPr>
            <p:ph type="title"/>
          </p:nvPr>
        </p:nvSpPr>
        <p:spPr>
          <a:xfrm>
            <a:off x="609600" y="568920"/>
            <a:ext cx="817562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Existing systems are not fully utilised</a:t>
            </a:r>
            <a:endParaRPr lang="en-US" sz="2800" dirty="0"/>
          </a:p>
        </p:txBody>
      </p:sp>
      <p:sp>
        <p:nvSpPr>
          <p:cNvPr id="6" name="Shape 2"/>
          <p:cNvSpPr/>
          <p:nvPr/>
        </p:nvSpPr>
        <p:spPr>
          <a:xfrm>
            <a:off x="609600" y="1163241"/>
            <a:ext cx="3556000" cy="3525308"/>
          </a:xfrm>
          <a:prstGeom prst="roundRect">
            <a:avLst>
              <a:gd name="adj" fmla="val 2882"/>
            </a:avLst>
          </a:prstGeom>
          <a:solidFill>
            <a:srgbClr val="0B2E6B"/>
          </a:solidFill>
          <a:ln/>
        </p:spPr>
        <p:txBody>
          <a:bodyPr/>
          <a:lstStyle/>
          <a:p>
            <a:endParaRPr lang="en-IN"/>
          </a:p>
        </p:txBody>
      </p:sp>
      <p:sp>
        <p:nvSpPr>
          <p:cNvPr id="7" name="Text 3"/>
          <p:cNvSpPr/>
          <p:nvPr/>
        </p:nvSpPr>
        <p:spPr>
          <a:xfrm>
            <a:off x="863600" y="2058526"/>
            <a:ext cx="3139440" cy="9398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Public Sans" pitchFamily="34" charset="0"/>
                <a:ea typeface="Public Sans" pitchFamily="34" charset="-122"/>
                <a:cs typeface="Public Sans" pitchFamily="34" charset="-120"/>
              </a:rPr>
              <a:t>Systems are in place, but work still moves through Excel and email</a:t>
            </a:r>
            <a:endParaRPr lang="en-US" sz="2000" dirty="0"/>
          </a:p>
        </p:txBody>
      </p:sp>
      <p:sp>
        <p:nvSpPr>
          <p:cNvPr id="8" name="Text 4"/>
          <p:cNvSpPr/>
          <p:nvPr/>
        </p:nvSpPr>
        <p:spPr>
          <a:xfrm>
            <a:off x="863600" y="3099926"/>
            <a:ext cx="3139440"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ECFA"/>
                </a:solidFill>
                <a:latin typeface="Public Sans" pitchFamily="34" charset="0"/>
                <a:ea typeface="Public Sans" pitchFamily="34" charset="-122"/>
                <a:cs typeface="Public Sans" pitchFamily="34" charset="-120"/>
              </a:rPr>
              <a:t>SAP S/4HANA serves mainly finance postings and core features are unused</a:t>
            </a:r>
            <a:endParaRPr lang="en-US" sz="1300" dirty="0"/>
          </a:p>
        </p:txBody>
      </p:sp>
      <p:sp>
        <p:nvSpPr>
          <p:cNvPr id="9" name="Shape 5"/>
          <p:cNvSpPr/>
          <p:nvPr/>
        </p:nvSpPr>
        <p:spPr>
          <a:xfrm>
            <a:off x="4375150" y="1169591"/>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0" name="Text 6"/>
          <p:cNvSpPr/>
          <p:nvPr/>
        </p:nvSpPr>
        <p:spPr>
          <a:xfrm>
            <a:off x="4533900" y="127754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1</a:t>
            </a:r>
            <a:endParaRPr lang="en-US" sz="2200" dirty="0"/>
          </a:p>
        </p:txBody>
      </p:sp>
      <p:sp>
        <p:nvSpPr>
          <p:cNvPr id="11" name="Text 7"/>
          <p:cNvSpPr/>
          <p:nvPr/>
        </p:nvSpPr>
        <p:spPr>
          <a:xfrm>
            <a:off x="4965700" y="1357511"/>
            <a:ext cx="54219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Manual by default.</a:t>
            </a:r>
            <a:r>
              <a:rPr lang="en-US" sz="1300" dirty="0">
                <a:solidFill>
                  <a:srgbClr val="1B2333"/>
                </a:solidFill>
                <a:latin typeface="Public Sans" pitchFamily="34" charset="0"/>
                <a:ea typeface="Public Sans" pitchFamily="34" charset="-122"/>
                <a:cs typeface="Public Sans" pitchFamily="34" charset="-120"/>
              </a:rPr>
              <a:t> Most processes run on email and Excel.</a:t>
            </a:r>
            <a:endParaRPr lang="en-US" sz="1300" dirty="0"/>
          </a:p>
        </p:txBody>
      </p:sp>
      <p:sp>
        <p:nvSpPr>
          <p:cNvPr id="12" name="Shape 8"/>
          <p:cNvSpPr/>
          <p:nvPr/>
        </p:nvSpPr>
        <p:spPr>
          <a:xfrm>
            <a:off x="4375150" y="1878211"/>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3" name="Text 9"/>
          <p:cNvSpPr/>
          <p:nvPr/>
        </p:nvSpPr>
        <p:spPr>
          <a:xfrm>
            <a:off x="4533900" y="198616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2</a:t>
            </a:r>
            <a:endParaRPr lang="en-US" sz="2200" dirty="0"/>
          </a:p>
        </p:txBody>
      </p:sp>
      <p:sp>
        <p:nvSpPr>
          <p:cNvPr id="14" name="Text 10"/>
          <p:cNvSpPr/>
          <p:nvPr/>
        </p:nvSpPr>
        <p:spPr>
          <a:xfrm>
            <a:off x="4965700" y="2066131"/>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Manual planning.</a:t>
            </a:r>
            <a:r>
              <a:rPr lang="en-US" sz="1300" dirty="0">
                <a:solidFill>
                  <a:srgbClr val="1B2333"/>
                </a:solidFill>
                <a:latin typeface="Public Sans" pitchFamily="34" charset="0"/>
                <a:ea typeface="Public Sans" pitchFamily="34" charset="-122"/>
                <a:cs typeface="Public Sans" pitchFamily="34" charset="-120"/>
              </a:rPr>
              <a:t> MRP inputs, vendor allocation and PRs are prepared by hand.</a:t>
            </a:r>
            <a:endParaRPr lang="en-US" sz="1300" dirty="0"/>
          </a:p>
        </p:txBody>
      </p:sp>
      <p:sp>
        <p:nvSpPr>
          <p:cNvPr id="15" name="Shape 11"/>
          <p:cNvSpPr/>
          <p:nvPr/>
        </p:nvSpPr>
        <p:spPr>
          <a:xfrm>
            <a:off x="4375150" y="2586831"/>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6" name="Text 12"/>
          <p:cNvSpPr/>
          <p:nvPr/>
        </p:nvSpPr>
        <p:spPr>
          <a:xfrm>
            <a:off x="4533900" y="2694781"/>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3</a:t>
            </a:r>
            <a:endParaRPr lang="en-US" sz="2200" dirty="0"/>
          </a:p>
        </p:txBody>
      </p:sp>
      <p:sp>
        <p:nvSpPr>
          <p:cNvPr id="17" name="Text 13"/>
          <p:cNvSpPr/>
          <p:nvPr/>
        </p:nvSpPr>
        <p:spPr>
          <a:xfrm>
            <a:off x="4965700" y="2774752"/>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No production orders.</a:t>
            </a:r>
            <a:r>
              <a:rPr lang="en-US" sz="1300" dirty="0">
                <a:solidFill>
                  <a:srgbClr val="1B2333"/>
                </a:solidFill>
                <a:latin typeface="Public Sans" pitchFamily="34" charset="0"/>
                <a:ea typeface="Public Sans" pitchFamily="34" charset="-122"/>
                <a:cs typeface="Public Sans" pitchFamily="34" charset="-120"/>
              </a:rPr>
              <a:t> Consumption and finished goods are posted manually in SAP.</a:t>
            </a:r>
            <a:endParaRPr lang="en-US" sz="1300" dirty="0"/>
          </a:p>
        </p:txBody>
      </p:sp>
      <p:sp>
        <p:nvSpPr>
          <p:cNvPr id="18" name="Shape 14"/>
          <p:cNvSpPr/>
          <p:nvPr/>
        </p:nvSpPr>
        <p:spPr>
          <a:xfrm>
            <a:off x="4375150" y="3295452"/>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9" name="Text 15"/>
          <p:cNvSpPr/>
          <p:nvPr/>
        </p:nvSpPr>
        <p:spPr>
          <a:xfrm>
            <a:off x="4533900" y="3403402"/>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4</a:t>
            </a:r>
            <a:endParaRPr lang="en-US" sz="2200" dirty="0"/>
          </a:p>
        </p:txBody>
      </p:sp>
      <p:sp>
        <p:nvSpPr>
          <p:cNvPr id="20" name="Text 16"/>
          <p:cNvSpPr/>
          <p:nvPr/>
        </p:nvSpPr>
        <p:spPr>
          <a:xfrm>
            <a:off x="4965700" y="3483372"/>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Returns to vendor.</a:t>
            </a:r>
            <a:r>
              <a:rPr lang="en-US" sz="1300" dirty="0">
                <a:solidFill>
                  <a:srgbClr val="1B2333"/>
                </a:solidFill>
                <a:latin typeface="Public Sans" pitchFamily="34" charset="0"/>
                <a:ea typeface="Public Sans" pitchFamily="34" charset="-122"/>
                <a:cs typeface="Public Sans" pitchFamily="34" charset="-120"/>
              </a:rPr>
              <a:t> Not posted against the PO in SAP, so claims are hard to trace.</a:t>
            </a:r>
            <a:endParaRPr lang="en-US" sz="1300" dirty="0"/>
          </a:p>
        </p:txBody>
      </p:sp>
      <p:sp>
        <p:nvSpPr>
          <p:cNvPr id="21" name="Shape 17"/>
          <p:cNvSpPr/>
          <p:nvPr/>
        </p:nvSpPr>
        <p:spPr>
          <a:xfrm>
            <a:off x="4375150" y="4004072"/>
            <a:ext cx="7200900" cy="678127"/>
          </a:xfrm>
          <a:prstGeom prst="roundRect">
            <a:avLst>
              <a:gd name="adj" fmla="val 10300"/>
            </a:avLst>
          </a:prstGeom>
          <a:solidFill>
            <a:srgbClr val="FFFFFF"/>
          </a:solidFill>
          <a:ln w="12700">
            <a:solidFill>
              <a:srgbClr val="DDE2EC"/>
            </a:solidFill>
            <a:prstDash val="solid"/>
          </a:ln>
        </p:spPr>
        <p:txBody>
          <a:bodyPr/>
          <a:lstStyle/>
          <a:p>
            <a:endParaRPr lang="en-IN"/>
          </a:p>
        </p:txBody>
      </p:sp>
      <p:sp>
        <p:nvSpPr>
          <p:cNvPr id="22" name="Text 18"/>
          <p:cNvSpPr/>
          <p:nvPr/>
        </p:nvSpPr>
        <p:spPr>
          <a:xfrm>
            <a:off x="4533900" y="4147542"/>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5</a:t>
            </a:r>
            <a:endParaRPr lang="en-US" sz="2200" dirty="0"/>
          </a:p>
        </p:txBody>
      </p:sp>
      <p:sp>
        <p:nvSpPr>
          <p:cNvPr id="23" name="Text 19"/>
          <p:cNvSpPr/>
          <p:nvPr/>
        </p:nvSpPr>
        <p:spPr>
          <a:xfrm>
            <a:off x="4965700" y="4112022"/>
            <a:ext cx="6645148"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Delivery changes.</a:t>
            </a:r>
            <a:r>
              <a:rPr lang="en-US" sz="1300" dirty="0">
                <a:solidFill>
                  <a:srgbClr val="1B2333"/>
                </a:solidFill>
                <a:latin typeface="Public Sans" pitchFamily="34" charset="0"/>
                <a:ea typeface="Public Sans" pitchFamily="34" charset="-122"/>
                <a:cs typeface="Public Sans" pitchFamily="34" charset="-120"/>
              </a:rPr>
              <a:t> Schedule revisions reach suppliers manually, and SAP PO dates stay unchanged.</a:t>
            </a:r>
            <a:endParaRPr lang="en-US" sz="1300" dirty="0"/>
          </a:p>
        </p:txBody>
      </p:sp>
      <p:sp>
        <p:nvSpPr>
          <p:cNvPr id="24" name="Text 20"/>
          <p:cNvSpPr/>
          <p:nvPr/>
        </p:nvSpPr>
        <p:spPr>
          <a:xfrm>
            <a:off x="615950" y="4898101"/>
            <a:ext cx="10960100" cy="447014"/>
          </a:xfrm>
          <a:prstGeom prst="roundRect">
            <a:avLst>
              <a:gd name="adj" fmla="val 15626"/>
            </a:avLst>
          </a:prstGeom>
          <a:solidFill>
            <a:srgbClr val="FFFFFF"/>
          </a:solidFill>
          <a:ln w="12700">
            <a:solidFill>
              <a:srgbClr val="D6232A"/>
            </a:solidFill>
            <a:prstDash val="solid"/>
          </a:ln>
        </p:spPr>
        <p:txBody>
          <a:bodyPr wrap="square" lIns="163692" tIns="87492" rIns="0" bIns="62092" rtlCol="0" anchor="t">
            <a:normAutofit/>
          </a:bodyPr>
          <a:lstStyle/>
          <a:p>
            <a:pPr marL="0" indent="0" algn="l">
              <a:lnSpc>
                <a:spcPts val="1820"/>
              </a:lnSpc>
              <a:buNone/>
            </a:pPr>
            <a:r>
              <a:rPr lang="en-US" sz="1300" dirty="0">
                <a:solidFill>
                  <a:srgbClr val="1B2333"/>
                </a:solidFill>
                <a:latin typeface="Public Sans" pitchFamily="34" charset="0"/>
                <a:ea typeface="Public Sans" pitchFamily="34" charset="-122"/>
                <a:cs typeface="Public Sans" pitchFamily="34" charset="-120"/>
              </a:rPr>
              <a:t>Detail follows in the Requirement Register and Gap Analysis (4–10 Nov).</a:t>
            </a:r>
            <a:endParaRPr lang="en-US" sz="1300" dirty="0"/>
          </a:p>
        </p:txBody>
      </p:sp>
      <p:sp>
        <p:nvSpPr>
          <p:cNvPr id="25" name="Text 21"/>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26" name="Text 22"/>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7</a:t>
            </a:r>
            <a:endParaRPr lang="en-US" sz="1200" dirty="0"/>
          </a:p>
        </p:txBody>
      </p:sp>
      <p:pic>
        <p:nvPicPr>
          <p:cNvPr id="28" name="Picture 27" descr="Durvah Logo Brand New.jpg">
            <a:extLst>
              <a:ext uri="{FF2B5EF4-FFF2-40B4-BE49-F238E27FC236}">
                <a16:creationId xmlns:a16="http://schemas.microsoft.com/office/drawing/2014/main" id="{7C4657C7-3CEB-FE61-7FA1-C45414678AA2}"/>
              </a:ext>
            </a:extLst>
          </p:cNvPr>
          <p:cNvPicPr>
            <a:picLocks noChangeAspect="1"/>
          </p:cNvPicPr>
          <p:nvPr/>
        </p:nvPicPr>
        <p:blipFill>
          <a:blip r:embed="rId4"/>
          <a:stretch>
            <a:fillRect/>
          </a:stretch>
        </p:blipFill>
        <p:spPr>
          <a:xfrm>
            <a:off x="10363201" y="228600"/>
            <a:ext cx="1147482" cy="4509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B0A41-9374-99A2-6445-D7A40D652500}"/>
            </a:ext>
          </a:extLst>
        </p:cNvPr>
        <p:cNvGrpSpPr/>
        <p:nvPr/>
      </p:nvGrpSpPr>
      <p:grpSpPr>
        <a:xfrm>
          <a:off x="0" y="0"/>
          <a:ext cx="0" cy="0"/>
          <a:chOff x="0" y="0"/>
          <a:chExt cx="0" cy="0"/>
        </a:xfrm>
      </p:grpSpPr>
      <p:pic>
        <p:nvPicPr>
          <p:cNvPr id="2" name="Image 0" descr="Ajinomoto logo">
            <a:extLst>
              <a:ext uri="{FF2B5EF4-FFF2-40B4-BE49-F238E27FC236}">
                <a16:creationId xmlns:a16="http://schemas.microsoft.com/office/drawing/2014/main" id="{48C78BB4-1DC8-41E6-226A-9B80CA27DAFE}"/>
              </a:ext>
            </a:extLst>
          </p:cNvPr>
          <p:cNvPicPr>
            <a:picLocks noChangeAspect="1"/>
          </p:cNvPicPr>
          <p:nvPr/>
        </p:nvPicPr>
        <p:blipFill>
          <a:blip r:embed="rId3"/>
          <a:srcRect l="-26" r="-26"/>
          <a:stretch/>
        </p:blipFill>
        <p:spPr>
          <a:xfrm>
            <a:off x="9398000" y="254000"/>
            <a:ext cx="660400" cy="463550"/>
          </a:xfrm>
          <a:prstGeom prst="rect">
            <a:avLst/>
          </a:prstGeom>
        </p:spPr>
      </p:pic>
      <p:sp>
        <p:nvSpPr>
          <p:cNvPr id="4" name="Text 0">
            <a:extLst>
              <a:ext uri="{FF2B5EF4-FFF2-40B4-BE49-F238E27FC236}">
                <a16:creationId xmlns:a16="http://schemas.microsoft.com/office/drawing/2014/main" id="{FD1B6FDC-C045-7F94-B944-95628EC8A2D1}"/>
              </a:ext>
            </a:extLst>
          </p:cNvPr>
          <p:cNvSpPr/>
          <p:nvPr/>
        </p:nvSpPr>
        <p:spPr>
          <a:xfrm>
            <a:off x="609600" y="304800"/>
            <a:ext cx="817562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SOLUTION FOCUS</a:t>
            </a:r>
            <a:endParaRPr lang="en-US" sz="1200" dirty="0"/>
          </a:p>
        </p:txBody>
      </p:sp>
      <p:sp>
        <p:nvSpPr>
          <p:cNvPr id="5" name="Text 1">
            <a:extLst>
              <a:ext uri="{FF2B5EF4-FFF2-40B4-BE49-F238E27FC236}">
                <a16:creationId xmlns:a16="http://schemas.microsoft.com/office/drawing/2014/main" id="{EB2CCCB9-B6E5-FBF8-1EA3-E942D89B165E}"/>
              </a:ext>
            </a:extLst>
          </p:cNvPr>
          <p:cNvSpPr>
            <a:spLocks noGrp="1"/>
          </p:cNvSpPr>
          <p:nvPr>
            <p:ph type="title"/>
          </p:nvPr>
        </p:nvSpPr>
        <p:spPr>
          <a:xfrm>
            <a:off x="609600" y="568920"/>
            <a:ext cx="817562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Pre-Requisite for Procurement platform</a:t>
            </a:r>
            <a:endParaRPr lang="en-US" sz="2800" dirty="0"/>
          </a:p>
        </p:txBody>
      </p:sp>
      <p:sp>
        <p:nvSpPr>
          <p:cNvPr id="6" name="Shape 2">
            <a:extLst>
              <a:ext uri="{FF2B5EF4-FFF2-40B4-BE49-F238E27FC236}">
                <a16:creationId xmlns:a16="http://schemas.microsoft.com/office/drawing/2014/main" id="{73E89F25-D005-2B4A-79D8-B04B1F6BE0E4}"/>
              </a:ext>
            </a:extLst>
          </p:cNvPr>
          <p:cNvSpPr/>
          <p:nvPr/>
        </p:nvSpPr>
        <p:spPr>
          <a:xfrm>
            <a:off x="609600" y="1763877"/>
            <a:ext cx="3556000" cy="3525308"/>
          </a:xfrm>
          <a:prstGeom prst="roundRect">
            <a:avLst>
              <a:gd name="adj" fmla="val 2882"/>
            </a:avLst>
          </a:prstGeom>
          <a:solidFill>
            <a:srgbClr val="0B2E6B"/>
          </a:solidFill>
          <a:ln/>
        </p:spPr>
        <p:txBody>
          <a:bodyPr/>
          <a:lstStyle/>
          <a:p>
            <a:endParaRPr lang="en-IN"/>
          </a:p>
        </p:txBody>
      </p:sp>
      <p:sp>
        <p:nvSpPr>
          <p:cNvPr id="7" name="Text 3">
            <a:extLst>
              <a:ext uri="{FF2B5EF4-FFF2-40B4-BE49-F238E27FC236}">
                <a16:creationId xmlns:a16="http://schemas.microsoft.com/office/drawing/2014/main" id="{52064ABF-0E91-11B4-B787-AFCD66AA6733}"/>
              </a:ext>
            </a:extLst>
          </p:cNvPr>
          <p:cNvSpPr/>
          <p:nvPr/>
        </p:nvSpPr>
        <p:spPr>
          <a:xfrm>
            <a:off x="809810" y="3098433"/>
            <a:ext cx="3139440" cy="939800"/>
          </a:xfrm>
          <a:prstGeom prst="rect">
            <a:avLst/>
          </a:prstGeom>
          <a:noFill/>
          <a:ln/>
        </p:spPr>
        <p:txBody>
          <a:bodyPr wrap="square" lIns="0" tIns="0" rIns="0" bIns="0" rtlCol="0" anchor="t">
            <a:normAutofit/>
          </a:bodyPr>
          <a:lstStyle/>
          <a:p>
            <a:pPr marL="0" indent="0" algn="ctr">
              <a:lnSpc>
                <a:spcPts val="2400"/>
              </a:lnSpc>
              <a:buNone/>
            </a:pPr>
            <a:r>
              <a:rPr lang="en-US" sz="2000" b="1" dirty="0">
                <a:solidFill>
                  <a:srgbClr val="FFFFFF"/>
                </a:solidFill>
                <a:latin typeface="Public Sans" pitchFamily="34" charset="0"/>
                <a:ea typeface="Public Sans" pitchFamily="34" charset="-122"/>
                <a:cs typeface="Public Sans" pitchFamily="34" charset="-120"/>
              </a:rPr>
              <a:t>Key focus areas while designing the solution</a:t>
            </a:r>
            <a:endParaRPr lang="en-US" sz="2000" dirty="0"/>
          </a:p>
        </p:txBody>
      </p:sp>
      <p:sp>
        <p:nvSpPr>
          <p:cNvPr id="9" name="Shape 5">
            <a:extLst>
              <a:ext uri="{FF2B5EF4-FFF2-40B4-BE49-F238E27FC236}">
                <a16:creationId xmlns:a16="http://schemas.microsoft.com/office/drawing/2014/main" id="{E9FFD8B9-8708-8454-DE7D-FA138237631E}"/>
              </a:ext>
            </a:extLst>
          </p:cNvPr>
          <p:cNvSpPr/>
          <p:nvPr/>
        </p:nvSpPr>
        <p:spPr>
          <a:xfrm>
            <a:off x="4375150" y="1770227"/>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0" name="Text 6">
            <a:extLst>
              <a:ext uri="{FF2B5EF4-FFF2-40B4-BE49-F238E27FC236}">
                <a16:creationId xmlns:a16="http://schemas.microsoft.com/office/drawing/2014/main" id="{BB6846BC-58A3-2F56-0351-D9E8CA22B7C3}"/>
              </a:ext>
            </a:extLst>
          </p:cNvPr>
          <p:cNvSpPr/>
          <p:nvPr/>
        </p:nvSpPr>
        <p:spPr>
          <a:xfrm>
            <a:off x="4533900" y="1878177"/>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1</a:t>
            </a:r>
            <a:endParaRPr lang="en-US" sz="2200" dirty="0"/>
          </a:p>
        </p:txBody>
      </p:sp>
      <p:sp>
        <p:nvSpPr>
          <p:cNvPr id="11" name="Text 7">
            <a:extLst>
              <a:ext uri="{FF2B5EF4-FFF2-40B4-BE49-F238E27FC236}">
                <a16:creationId xmlns:a16="http://schemas.microsoft.com/office/drawing/2014/main" id="{88525A5E-3C20-B7A4-D924-D20A2AA98137}"/>
              </a:ext>
            </a:extLst>
          </p:cNvPr>
          <p:cNvSpPr/>
          <p:nvPr/>
        </p:nvSpPr>
        <p:spPr>
          <a:xfrm>
            <a:off x="4965700" y="1958147"/>
            <a:ext cx="54219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Automations</a:t>
            </a:r>
            <a:endParaRPr lang="en-US" sz="1300" dirty="0"/>
          </a:p>
        </p:txBody>
      </p:sp>
      <p:sp>
        <p:nvSpPr>
          <p:cNvPr id="12" name="Shape 8">
            <a:extLst>
              <a:ext uri="{FF2B5EF4-FFF2-40B4-BE49-F238E27FC236}">
                <a16:creationId xmlns:a16="http://schemas.microsoft.com/office/drawing/2014/main" id="{43448486-50D5-F2C0-404A-FC1E4A055AEF}"/>
              </a:ext>
            </a:extLst>
          </p:cNvPr>
          <p:cNvSpPr/>
          <p:nvPr/>
        </p:nvSpPr>
        <p:spPr>
          <a:xfrm>
            <a:off x="4375150" y="2478847"/>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3" name="Text 9">
            <a:extLst>
              <a:ext uri="{FF2B5EF4-FFF2-40B4-BE49-F238E27FC236}">
                <a16:creationId xmlns:a16="http://schemas.microsoft.com/office/drawing/2014/main" id="{16805F9D-3750-E67F-2DA7-284C6DAC6516}"/>
              </a:ext>
            </a:extLst>
          </p:cNvPr>
          <p:cNvSpPr/>
          <p:nvPr/>
        </p:nvSpPr>
        <p:spPr>
          <a:xfrm>
            <a:off x="4533900" y="2586797"/>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2</a:t>
            </a:r>
            <a:endParaRPr lang="en-US" sz="2200" dirty="0"/>
          </a:p>
        </p:txBody>
      </p:sp>
      <p:sp>
        <p:nvSpPr>
          <p:cNvPr id="14" name="Text 10">
            <a:extLst>
              <a:ext uri="{FF2B5EF4-FFF2-40B4-BE49-F238E27FC236}">
                <a16:creationId xmlns:a16="http://schemas.microsoft.com/office/drawing/2014/main" id="{F81B1F9E-319B-DCD0-3092-12B91559CF65}"/>
              </a:ext>
            </a:extLst>
          </p:cNvPr>
          <p:cNvSpPr/>
          <p:nvPr/>
        </p:nvSpPr>
        <p:spPr>
          <a:xfrm>
            <a:off x="4965700" y="2666767"/>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Optimal Systems</a:t>
            </a:r>
            <a:endParaRPr lang="en-US" sz="1300" dirty="0"/>
          </a:p>
        </p:txBody>
      </p:sp>
      <p:sp>
        <p:nvSpPr>
          <p:cNvPr id="15" name="Shape 11">
            <a:extLst>
              <a:ext uri="{FF2B5EF4-FFF2-40B4-BE49-F238E27FC236}">
                <a16:creationId xmlns:a16="http://schemas.microsoft.com/office/drawing/2014/main" id="{994A4426-CD96-4FEB-B3D8-E27101B4B967}"/>
              </a:ext>
            </a:extLst>
          </p:cNvPr>
          <p:cNvSpPr/>
          <p:nvPr/>
        </p:nvSpPr>
        <p:spPr>
          <a:xfrm>
            <a:off x="4375150" y="3187467"/>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6" name="Text 12">
            <a:extLst>
              <a:ext uri="{FF2B5EF4-FFF2-40B4-BE49-F238E27FC236}">
                <a16:creationId xmlns:a16="http://schemas.microsoft.com/office/drawing/2014/main" id="{7F66A585-25F7-3D2C-EEB9-52B3E4DB106F}"/>
              </a:ext>
            </a:extLst>
          </p:cNvPr>
          <p:cNvSpPr/>
          <p:nvPr/>
        </p:nvSpPr>
        <p:spPr>
          <a:xfrm>
            <a:off x="4533900" y="3295417"/>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3</a:t>
            </a:r>
            <a:endParaRPr lang="en-US" sz="2200" dirty="0"/>
          </a:p>
        </p:txBody>
      </p:sp>
      <p:sp>
        <p:nvSpPr>
          <p:cNvPr id="17" name="Text 13">
            <a:extLst>
              <a:ext uri="{FF2B5EF4-FFF2-40B4-BE49-F238E27FC236}">
                <a16:creationId xmlns:a16="http://schemas.microsoft.com/office/drawing/2014/main" id="{C66252E4-F314-EFE2-38CC-165B8AB003A9}"/>
              </a:ext>
            </a:extLst>
          </p:cNvPr>
          <p:cNvSpPr/>
          <p:nvPr/>
        </p:nvSpPr>
        <p:spPr>
          <a:xfrm>
            <a:off x="4965700" y="3375388"/>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Supplier Collaboration</a:t>
            </a:r>
            <a:endParaRPr lang="en-US" sz="1300" dirty="0"/>
          </a:p>
        </p:txBody>
      </p:sp>
      <p:sp>
        <p:nvSpPr>
          <p:cNvPr id="18" name="Shape 14">
            <a:extLst>
              <a:ext uri="{FF2B5EF4-FFF2-40B4-BE49-F238E27FC236}">
                <a16:creationId xmlns:a16="http://schemas.microsoft.com/office/drawing/2014/main" id="{F8FE4DE6-A202-927B-E1EA-5358FF749DD8}"/>
              </a:ext>
            </a:extLst>
          </p:cNvPr>
          <p:cNvSpPr/>
          <p:nvPr/>
        </p:nvSpPr>
        <p:spPr>
          <a:xfrm>
            <a:off x="4375150" y="3896088"/>
            <a:ext cx="7200900" cy="607020"/>
          </a:xfrm>
          <a:prstGeom prst="roundRect">
            <a:avLst>
              <a:gd name="adj" fmla="val 11507"/>
            </a:avLst>
          </a:prstGeom>
          <a:solidFill>
            <a:srgbClr val="FFFFFF"/>
          </a:solidFill>
          <a:ln w="12700">
            <a:solidFill>
              <a:srgbClr val="DDE2EC"/>
            </a:solidFill>
            <a:prstDash val="solid"/>
          </a:ln>
        </p:spPr>
        <p:txBody>
          <a:bodyPr/>
          <a:lstStyle/>
          <a:p>
            <a:endParaRPr lang="en-IN"/>
          </a:p>
        </p:txBody>
      </p:sp>
      <p:sp>
        <p:nvSpPr>
          <p:cNvPr id="19" name="Text 15">
            <a:extLst>
              <a:ext uri="{FF2B5EF4-FFF2-40B4-BE49-F238E27FC236}">
                <a16:creationId xmlns:a16="http://schemas.microsoft.com/office/drawing/2014/main" id="{4A998244-63A0-A3DF-6367-5BDBF7B714B3}"/>
              </a:ext>
            </a:extLst>
          </p:cNvPr>
          <p:cNvSpPr/>
          <p:nvPr/>
        </p:nvSpPr>
        <p:spPr>
          <a:xfrm>
            <a:off x="4533900" y="4004038"/>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4</a:t>
            </a:r>
            <a:endParaRPr lang="en-US" sz="2200" dirty="0"/>
          </a:p>
        </p:txBody>
      </p:sp>
      <p:sp>
        <p:nvSpPr>
          <p:cNvPr id="20" name="Text 16">
            <a:extLst>
              <a:ext uri="{FF2B5EF4-FFF2-40B4-BE49-F238E27FC236}">
                <a16:creationId xmlns:a16="http://schemas.microsoft.com/office/drawing/2014/main" id="{DD30BF41-48BC-4888-3118-09571E4A61A4}"/>
              </a:ext>
            </a:extLst>
          </p:cNvPr>
          <p:cNvSpPr/>
          <p:nvPr/>
        </p:nvSpPr>
        <p:spPr>
          <a:xfrm>
            <a:off x="4965700" y="4084008"/>
            <a:ext cx="660400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Seamless Integration</a:t>
            </a:r>
            <a:endParaRPr lang="en-US" sz="1300" dirty="0"/>
          </a:p>
        </p:txBody>
      </p:sp>
      <p:sp>
        <p:nvSpPr>
          <p:cNvPr id="21" name="Shape 17">
            <a:extLst>
              <a:ext uri="{FF2B5EF4-FFF2-40B4-BE49-F238E27FC236}">
                <a16:creationId xmlns:a16="http://schemas.microsoft.com/office/drawing/2014/main" id="{B5F7A4C5-292B-47E2-BC4D-2F0AA77095CE}"/>
              </a:ext>
            </a:extLst>
          </p:cNvPr>
          <p:cNvSpPr/>
          <p:nvPr/>
        </p:nvSpPr>
        <p:spPr>
          <a:xfrm>
            <a:off x="4375150" y="4604708"/>
            <a:ext cx="7200900" cy="678127"/>
          </a:xfrm>
          <a:prstGeom prst="roundRect">
            <a:avLst>
              <a:gd name="adj" fmla="val 10300"/>
            </a:avLst>
          </a:prstGeom>
          <a:solidFill>
            <a:srgbClr val="FFFFFF"/>
          </a:solidFill>
          <a:ln w="12700">
            <a:solidFill>
              <a:srgbClr val="DDE2EC"/>
            </a:solidFill>
            <a:prstDash val="solid"/>
          </a:ln>
        </p:spPr>
        <p:txBody>
          <a:bodyPr/>
          <a:lstStyle/>
          <a:p>
            <a:endParaRPr lang="en-IN"/>
          </a:p>
        </p:txBody>
      </p:sp>
      <p:sp>
        <p:nvSpPr>
          <p:cNvPr id="22" name="Text 18">
            <a:extLst>
              <a:ext uri="{FF2B5EF4-FFF2-40B4-BE49-F238E27FC236}">
                <a16:creationId xmlns:a16="http://schemas.microsoft.com/office/drawing/2014/main" id="{5C3D7D65-A46C-C308-416F-376FA62A8D02}"/>
              </a:ext>
            </a:extLst>
          </p:cNvPr>
          <p:cNvSpPr/>
          <p:nvPr/>
        </p:nvSpPr>
        <p:spPr>
          <a:xfrm>
            <a:off x="4533900" y="4748178"/>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6232A"/>
                </a:solidFill>
                <a:latin typeface="Public Sans" pitchFamily="34" charset="0"/>
                <a:ea typeface="Public Sans" pitchFamily="34" charset="-122"/>
                <a:cs typeface="Public Sans" pitchFamily="34" charset="-120"/>
              </a:rPr>
              <a:t>5</a:t>
            </a:r>
            <a:endParaRPr lang="en-US" sz="2200" dirty="0"/>
          </a:p>
        </p:txBody>
      </p:sp>
      <p:sp>
        <p:nvSpPr>
          <p:cNvPr id="23" name="Text 19">
            <a:extLst>
              <a:ext uri="{FF2B5EF4-FFF2-40B4-BE49-F238E27FC236}">
                <a16:creationId xmlns:a16="http://schemas.microsoft.com/office/drawing/2014/main" id="{AAA9992A-C51A-90AB-3D8C-33DB0F52E256}"/>
              </a:ext>
            </a:extLst>
          </p:cNvPr>
          <p:cNvSpPr/>
          <p:nvPr/>
        </p:nvSpPr>
        <p:spPr>
          <a:xfrm>
            <a:off x="4965700" y="4838169"/>
            <a:ext cx="6645148" cy="32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333"/>
                </a:solidFill>
                <a:latin typeface="Public Sans" pitchFamily="34" charset="0"/>
                <a:ea typeface="Public Sans" pitchFamily="34" charset="-122"/>
                <a:cs typeface="Public Sans" pitchFamily="34" charset="-120"/>
              </a:rPr>
              <a:t>Centralized Reporting</a:t>
            </a:r>
            <a:endParaRPr lang="en-US" sz="1300" dirty="0"/>
          </a:p>
        </p:txBody>
      </p:sp>
      <p:sp>
        <p:nvSpPr>
          <p:cNvPr id="25" name="Text 21">
            <a:extLst>
              <a:ext uri="{FF2B5EF4-FFF2-40B4-BE49-F238E27FC236}">
                <a16:creationId xmlns:a16="http://schemas.microsoft.com/office/drawing/2014/main" id="{A271EDF1-85F3-34F7-1781-90582ABFF47F}"/>
              </a:ext>
            </a:extLst>
          </p:cNvPr>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26" name="Text 22">
            <a:extLst>
              <a:ext uri="{FF2B5EF4-FFF2-40B4-BE49-F238E27FC236}">
                <a16:creationId xmlns:a16="http://schemas.microsoft.com/office/drawing/2014/main" id="{E51FE265-064F-7947-BBC8-1CAF1154DEEF}"/>
              </a:ext>
            </a:extLst>
          </p:cNvPr>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8</a:t>
            </a:r>
            <a:endParaRPr lang="en-US" sz="1200" dirty="0"/>
          </a:p>
        </p:txBody>
      </p:sp>
      <p:pic>
        <p:nvPicPr>
          <p:cNvPr id="28" name="Picture 27" descr="Durvah Logo Brand New.jpg">
            <a:extLst>
              <a:ext uri="{FF2B5EF4-FFF2-40B4-BE49-F238E27FC236}">
                <a16:creationId xmlns:a16="http://schemas.microsoft.com/office/drawing/2014/main" id="{3711EFE0-6AA1-BBD0-274B-0CB481A86BEB}"/>
              </a:ext>
            </a:extLst>
          </p:cNvPr>
          <p:cNvPicPr>
            <a:picLocks noChangeAspect="1"/>
          </p:cNvPicPr>
          <p:nvPr/>
        </p:nvPicPr>
        <p:blipFill>
          <a:blip r:embed="rId4"/>
          <a:stretch>
            <a:fillRect/>
          </a:stretch>
        </p:blipFill>
        <p:spPr>
          <a:xfrm>
            <a:off x="10363201" y="228600"/>
            <a:ext cx="1147482" cy="450917"/>
          </a:xfrm>
          <a:prstGeom prst="rect">
            <a:avLst/>
          </a:prstGeom>
        </p:spPr>
      </p:pic>
    </p:spTree>
    <p:extLst>
      <p:ext uri="{BB962C8B-B14F-4D97-AF65-F5344CB8AC3E}">
        <p14:creationId xmlns:p14="http://schemas.microsoft.com/office/powerpoint/2010/main" val="2439804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6F7FA"/>
        </a:solidFill>
        <a:effectLst/>
      </p:bgPr>
    </p:bg>
    <p:spTree>
      <p:nvGrpSpPr>
        <p:cNvPr id="1" name=""/>
        <p:cNvGrpSpPr/>
        <p:nvPr/>
      </p:nvGrpSpPr>
      <p:grpSpPr>
        <a:xfrm>
          <a:off x="0" y="0"/>
          <a:ext cx="0" cy="0"/>
          <a:chOff x="0" y="0"/>
          <a:chExt cx="0" cy="0"/>
        </a:xfrm>
      </p:grpSpPr>
      <p:pic>
        <p:nvPicPr>
          <p:cNvPr id="2" name="Image 0" descr="Ajinomoto logo"/>
          <p:cNvPicPr>
            <a:picLocks noChangeAspect="1"/>
          </p:cNvPicPr>
          <p:nvPr/>
        </p:nvPicPr>
        <p:blipFill>
          <a:blip r:embed="rId3"/>
          <a:srcRect l="-26" r="-26"/>
          <a:stretch/>
        </p:blipFill>
        <p:spPr>
          <a:xfrm>
            <a:off x="9398000" y="254000"/>
            <a:ext cx="660400" cy="463550"/>
          </a:xfrm>
          <a:prstGeom prst="rect">
            <a:avLst/>
          </a:prstGeom>
        </p:spPr>
      </p:pic>
      <p:sp>
        <p:nvSpPr>
          <p:cNvPr id="4" name="Text 0"/>
          <p:cNvSpPr/>
          <p:nvPr/>
        </p:nvSpPr>
        <p:spPr>
          <a:xfrm>
            <a:off x="609600" y="304800"/>
            <a:ext cx="75215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6232A"/>
                </a:solidFill>
                <a:latin typeface="Public Sans" pitchFamily="34" charset="0"/>
                <a:ea typeface="Public Sans" pitchFamily="34" charset="-122"/>
                <a:cs typeface="Public Sans" pitchFamily="34" charset="-120"/>
              </a:rPr>
              <a:t>NEXT STEPS</a:t>
            </a:r>
            <a:endParaRPr lang="en-US" sz="1200" dirty="0"/>
          </a:p>
        </p:txBody>
      </p:sp>
      <p:sp>
        <p:nvSpPr>
          <p:cNvPr id="5" name="Text 1"/>
          <p:cNvSpPr>
            <a:spLocks noGrp="1"/>
          </p:cNvSpPr>
          <p:nvPr>
            <p:ph type="title"/>
          </p:nvPr>
        </p:nvSpPr>
        <p:spPr>
          <a:xfrm>
            <a:off x="609600" y="568920"/>
            <a:ext cx="7521575"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E6B"/>
                </a:solidFill>
                <a:latin typeface="Public Sans" pitchFamily="34" charset="0"/>
                <a:ea typeface="Public Sans" pitchFamily="34" charset="-122"/>
                <a:cs typeface="Public Sans" pitchFamily="34" charset="-120"/>
              </a:rPr>
              <a:t>From discovery to conceptual design</a:t>
            </a:r>
            <a:endParaRPr lang="en-US" sz="2800" dirty="0"/>
          </a:p>
        </p:txBody>
      </p:sp>
      <p:sp>
        <p:nvSpPr>
          <p:cNvPr id="6" name="Shape 2"/>
          <p:cNvSpPr/>
          <p:nvPr/>
        </p:nvSpPr>
        <p:spPr>
          <a:xfrm>
            <a:off x="609600" y="1234961"/>
            <a:ext cx="2628900" cy="2415249"/>
          </a:xfrm>
          <a:prstGeom prst="roundRect">
            <a:avLst>
              <a:gd name="adj" fmla="val 4207"/>
            </a:avLst>
          </a:prstGeom>
          <a:solidFill>
            <a:srgbClr val="0B2E6B"/>
          </a:solidFill>
          <a:ln/>
        </p:spPr>
        <p:txBody>
          <a:bodyPr/>
          <a:lstStyle/>
          <a:p>
            <a:endParaRPr lang="en-IN"/>
          </a:p>
        </p:txBody>
      </p:sp>
      <p:sp>
        <p:nvSpPr>
          <p:cNvPr id="7" name="Text 3"/>
          <p:cNvSpPr/>
          <p:nvPr/>
        </p:nvSpPr>
        <p:spPr>
          <a:xfrm>
            <a:off x="787400" y="1412761"/>
            <a:ext cx="1697898" cy="289520"/>
          </a:xfrm>
          <a:custGeom>
            <a:avLst/>
            <a:gdLst/>
            <a:ahLst/>
            <a:cxnLst/>
            <a:rect l="l" t="t" r="r" b="b"/>
            <a:pathLst>
              <a:path w="1697898" h="289520">
                <a:moveTo>
                  <a:pt x="144760" y="0"/>
                </a:moveTo>
                <a:lnTo>
                  <a:pt x="1553137" y="0"/>
                </a:lnTo>
                <a:arcTo wR="144760" hR="144760" stAng="16200000" swAng="5400000"/>
                <a:lnTo>
                  <a:pt x="1697898" y="144760"/>
                </a:lnTo>
                <a:arcTo wR="144760" hR="144760" stAng="0" swAng="5400000"/>
                <a:lnTo>
                  <a:pt x="144760" y="289520"/>
                </a:lnTo>
                <a:arcTo wR="144760" hR="144760" stAng="5400000" swAng="5400000"/>
                <a:lnTo>
                  <a:pt x="0" y="144760"/>
                </a:lnTo>
                <a:arcTo wR="144760" hR="144760" stAng="10800000" swAng="5400000"/>
                <a:close/>
              </a:path>
            </a:pathLst>
          </a:custGeom>
          <a:solidFill>
            <a:srgbClr val="FFFFFF"/>
          </a:solidFill>
          <a:ln/>
        </p:spPr>
        <p:txBody>
          <a:bodyPr wrap="none" lIns="0" tIns="0" rIns="0" bIns="0" rtlCol="0" anchor="ctr">
            <a:normAutofit/>
          </a:bodyPr>
          <a:lstStyle/>
          <a:p>
            <a:pPr marL="0" indent="0" algn="ctr">
              <a:lnSpc>
                <a:spcPts val="1680"/>
              </a:lnSpc>
              <a:buNone/>
            </a:pPr>
            <a:r>
              <a:rPr lang="en-US" sz="1200" b="1" dirty="0">
                <a:solidFill>
                  <a:srgbClr val="0B2E6B"/>
                </a:solidFill>
                <a:latin typeface="Public Sans" pitchFamily="34" charset="0"/>
                <a:ea typeface="Public Sans" pitchFamily="34" charset="-122"/>
                <a:cs typeface="Public Sans" pitchFamily="34" charset="-120"/>
              </a:rPr>
              <a:t>Phase 1 · In progress</a:t>
            </a:r>
            <a:endParaRPr lang="en-US" sz="1200" dirty="0"/>
          </a:p>
        </p:txBody>
      </p:sp>
      <p:sp>
        <p:nvSpPr>
          <p:cNvPr id="8" name="Text 4"/>
          <p:cNvSpPr/>
          <p:nvPr/>
        </p:nvSpPr>
        <p:spPr>
          <a:xfrm>
            <a:off x="787400" y="1765781"/>
            <a:ext cx="24511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FFF"/>
                </a:solidFill>
                <a:latin typeface="Public Sans" pitchFamily="34" charset="0"/>
                <a:ea typeface="Public Sans" pitchFamily="34" charset="-122"/>
                <a:cs typeface="Public Sans" pitchFamily="34" charset="-120"/>
              </a:rPr>
              <a:t>Requirement validation</a:t>
            </a:r>
            <a:endParaRPr lang="en-US" sz="1600" dirty="0"/>
          </a:p>
        </p:txBody>
      </p:sp>
      <p:sp>
        <p:nvSpPr>
          <p:cNvPr id="9" name="Text 5"/>
          <p:cNvSpPr/>
          <p:nvPr/>
        </p:nvSpPr>
        <p:spPr>
          <a:xfrm>
            <a:off x="787400" y="2073096"/>
            <a:ext cx="23414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FD3F2"/>
                </a:solidFill>
                <a:latin typeface="Public Sans" pitchFamily="34" charset="0"/>
                <a:ea typeface="Public Sans" pitchFamily="34" charset="-122"/>
                <a:cs typeface="Public Sans" pitchFamily="34" charset="-120"/>
              </a:rPr>
              <a:t>14 Oct – 10 Nov</a:t>
            </a:r>
            <a:endParaRPr lang="en-US" sz="1200" dirty="0"/>
          </a:p>
        </p:txBody>
      </p:sp>
      <p:sp>
        <p:nvSpPr>
          <p:cNvPr id="10" name="Text 6"/>
          <p:cNvSpPr/>
          <p:nvPr/>
        </p:nvSpPr>
        <p:spPr>
          <a:xfrm>
            <a:off x="787400" y="2349916"/>
            <a:ext cx="2341499"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CFA"/>
                </a:solidFill>
                <a:latin typeface="Public Sans" pitchFamily="34" charset="0"/>
                <a:ea typeface="Public Sans" pitchFamily="34" charset="-122"/>
                <a:cs typeface="Public Sans" pitchFamily="34" charset="-120"/>
              </a:rPr>
              <a:t>Workshops done; supplier session 3 Nov; requirement register and gap analysis 4–10 Nov</a:t>
            </a:r>
            <a:endParaRPr lang="en-US" sz="1200" dirty="0"/>
          </a:p>
        </p:txBody>
      </p:sp>
      <p:sp>
        <p:nvSpPr>
          <p:cNvPr id="11" name="Shape 7"/>
          <p:cNvSpPr/>
          <p:nvPr/>
        </p:nvSpPr>
        <p:spPr>
          <a:xfrm>
            <a:off x="3371850" y="1241311"/>
            <a:ext cx="2641600" cy="2402549"/>
          </a:xfrm>
          <a:prstGeom prst="roundRect">
            <a:avLst>
              <a:gd name="adj" fmla="val 3965"/>
            </a:avLst>
          </a:prstGeom>
          <a:solidFill>
            <a:srgbClr val="FFFFFF"/>
          </a:solidFill>
          <a:ln w="12700">
            <a:solidFill>
              <a:srgbClr val="DDE2EC"/>
            </a:solidFill>
            <a:prstDash val="solid"/>
          </a:ln>
        </p:spPr>
        <p:txBody>
          <a:bodyPr/>
          <a:lstStyle/>
          <a:p>
            <a:endParaRPr lang="en-IN"/>
          </a:p>
        </p:txBody>
      </p:sp>
      <p:sp>
        <p:nvSpPr>
          <p:cNvPr id="12" name="Text 8"/>
          <p:cNvSpPr/>
          <p:nvPr/>
        </p:nvSpPr>
        <p:spPr>
          <a:xfrm>
            <a:off x="3556000" y="1425461"/>
            <a:ext cx="802283" cy="289520"/>
          </a:xfrm>
          <a:custGeom>
            <a:avLst/>
            <a:gdLst/>
            <a:ahLst/>
            <a:cxnLst/>
            <a:rect l="l" t="t" r="r" b="b"/>
            <a:pathLst>
              <a:path w="802283" h="289520">
                <a:moveTo>
                  <a:pt x="144760" y="0"/>
                </a:moveTo>
                <a:lnTo>
                  <a:pt x="657523" y="0"/>
                </a:lnTo>
                <a:arcTo wR="144760" hR="144760" stAng="16200000" swAng="5400000"/>
                <a:lnTo>
                  <a:pt x="802283" y="144760"/>
                </a:lnTo>
                <a:arcTo wR="144760" hR="144760" stAng="0" swAng="5400000"/>
                <a:lnTo>
                  <a:pt x="144760" y="289520"/>
                </a:lnTo>
                <a:arcTo wR="144760" hR="144760" stAng="5400000" swAng="5400000"/>
                <a:lnTo>
                  <a:pt x="0" y="144760"/>
                </a:lnTo>
                <a:arcTo wR="144760" hR="144760" stAng="10800000" swAng="5400000"/>
                <a:close/>
              </a:path>
            </a:pathLst>
          </a:custGeom>
          <a:solidFill>
            <a:srgbClr val="D6232A"/>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Phase 2</a:t>
            </a:r>
            <a:endParaRPr lang="en-US" sz="1200" dirty="0"/>
          </a:p>
        </p:txBody>
      </p:sp>
      <p:sp>
        <p:nvSpPr>
          <p:cNvPr id="13" name="Text 9"/>
          <p:cNvSpPr/>
          <p:nvPr/>
        </p:nvSpPr>
        <p:spPr>
          <a:xfrm>
            <a:off x="3556000" y="1778481"/>
            <a:ext cx="2341499" cy="51302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6B"/>
                </a:solidFill>
                <a:latin typeface="Public Sans" pitchFamily="34" charset="0"/>
                <a:ea typeface="Public Sans" pitchFamily="34" charset="-122"/>
                <a:cs typeface="Public Sans" pitchFamily="34" charset="-120"/>
              </a:rPr>
              <a:t>Conceptual design and architecture</a:t>
            </a:r>
            <a:endParaRPr lang="en-US" sz="1600" dirty="0"/>
          </a:p>
        </p:txBody>
      </p:sp>
      <p:sp>
        <p:nvSpPr>
          <p:cNvPr id="14" name="Text 10"/>
          <p:cNvSpPr/>
          <p:nvPr/>
        </p:nvSpPr>
        <p:spPr>
          <a:xfrm>
            <a:off x="3556000" y="2329610"/>
            <a:ext cx="23414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66074"/>
                </a:solidFill>
                <a:latin typeface="Public Sans" pitchFamily="34" charset="0"/>
                <a:ea typeface="Public Sans" pitchFamily="34" charset="-122"/>
                <a:cs typeface="Public Sans" pitchFamily="34" charset="-120"/>
              </a:rPr>
              <a:t>11 Nov – 2 Dec</a:t>
            </a:r>
            <a:endParaRPr lang="en-US" sz="1200" dirty="0"/>
          </a:p>
        </p:txBody>
      </p:sp>
      <p:sp>
        <p:nvSpPr>
          <p:cNvPr id="15" name="Text 11"/>
          <p:cNvSpPr/>
          <p:nvPr/>
        </p:nvSpPr>
        <p:spPr>
          <a:xfrm>
            <a:off x="3556000" y="2606430"/>
            <a:ext cx="2341499"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333"/>
                </a:solidFill>
                <a:latin typeface="Public Sans" pitchFamily="34" charset="0"/>
                <a:ea typeface="Public Sans" pitchFamily="34" charset="-122"/>
                <a:cs typeface="Public Sans" pitchFamily="34" charset="-120"/>
              </a:rPr>
              <a:t>Future-state architecture, conceptual design and implementation scope; presentation 2 Dec</a:t>
            </a:r>
            <a:endParaRPr lang="en-US" sz="1200" dirty="0"/>
          </a:p>
        </p:txBody>
      </p:sp>
      <p:sp>
        <p:nvSpPr>
          <p:cNvPr id="16" name="Shape 12"/>
          <p:cNvSpPr/>
          <p:nvPr/>
        </p:nvSpPr>
        <p:spPr>
          <a:xfrm>
            <a:off x="6153150" y="1241311"/>
            <a:ext cx="2641600" cy="2402549"/>
          </a:xfrm>
          <a:prstGeom prst="roundRect">
            <a:avLst>
              <a:gd name="adj" fmla="val 3965"/>
            </a:avLst>
          </a:prstGeom>
          <a:solidFill>
            <a:srgbClr val="FFFFFF"/>
          </a:solidFill>
          <a:ln w="12700">
            <a:solidFill>
              <a:srgbClr val="DDE2EC"/>
            </a:solidFill>
            <a:prstDash val="solid"/>
          </a:ln>
        </p:spPr>
        <p:txBody>
          <a:bodyPr/>
          <a:lstStyle/>
          <a:p>
            <a:endParaRPr lang="en-IN"/>
          </a:p>
        </p:txBody>
      </p:sp>
      <p:sp>
        <p:nvSpPr>
          <p:cNvPr id="17" name="Text 13"/>
          <p:cNvSpPr/>
          <p:nvPr/>
        </p:nvSpPr>
        <p:spPr>
          <a:xfrm>
            <a:off x="6337300" y="1425461"/>
            <a:ext cx="806847" cy="289520"/>
          </a:xfrm>
          <a:custGeom>
            <a:avLst/>
            <a:gdLst/>
            <a:ahLst/>
            <a:cxnLst/>
            <a:rect l="l" t="t" r="r" b="b"/>
            <a:pathLst>
              <a:path w="806847" h="289520">
                <a:moveTo>
                  <a:pt x="144760" y="0"/>
                </a:moveTo>
                <a:lnTo>
                  <a:pt x="662087" y="0"/>
                </a:lnTo>
                <a:arcTo wR="144760" hR="144760" stAng="16200000" swAng="5400000"/>
                <a:lnTo>
                  <a:pt x="806847" y="144760"/>
                </a:lnTo>
                <a:arcTo wR="144760" hR="144760" stAng="0" swAng="5400000"/>
                <a:lnTo>
                  <a:pt x="144760" y="289520"/>
                </a:lnTo>
                <a:arcTo wR="144760" hR="144760" stAng="5400000" swAng="5400000"/>
                <a:lnTo>
                  <a:pt x="0" y="144760"/>
                </a:lnTo>
                <a:arcTo wR="144760" hR="144760" stAng="10800000" swAng="5400000"/>
                <a:close/>
              </a:path>
            </a:pathLst>
          </a:custGeom>
          <a:solidFill>
            <a:srgbClr val="D6232A"/>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Phase 3</a:t>
            </a:r>
            <a:endParaRPr lang="en-US" sz="1200" dirty="0"/>
          </a:p>
        </p:txBody>
      </p:sp>
      <p:sp>
        <p:nvSpPr>
          <p:cNvPr id="18" name="Text 14"/>
          <p:cNvSpPr/>
          <p:nvPr/>
        </p:nvSpPr>
        <p:spPr>
          <a:xfrm>
            <a:off x="6337300" y="1778481"/>
            <a:ext cx="2341499" cy="51302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6B"/>
                </a:solidFill>
                <a:latin typeface="Public Sans" pitchFamily="34" charset="0"/>
                <a:ea typeface="Public Sans" pitchFamily="34" charset="-122"/>
                <a:cs typeface="Public Sans" pitchFamily="34" charset="-120"/>
              </a:rPr>
              <a:t>Solution assessment and vendor evaluation</a:t>
            </a:r>
            <a:endParaRPr lang="en-US" sz="1600" dirty="0"/>
          </a:p>
        </p:txBody>
      </p:sp>
      <p:sp>
        <p:nvSpPr>
          <p:cNvPr id="19" name="Text 15"/>
          <p:cNvSpPr/>
          <p:nvPr/>
        </p:nvSpPr>
        <p:spPr>
          <a:xfrm>
            <a:off x="6337300" y="2329610"/>
            <a:ext cx="23414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66074"/>
                </a:solidFill>
                <a:latin typeface="Public Sans" pitchFamily="34" charset="0"/>
                <a:ea typeface="Public Sans" pitchFamily="34" charset="-122"/>
                <a:cs typeface="Public Sans" pitchFamily="34" charset="-120"/>
              </a:rPr>
              <a:t>24 Nov – 5 Jan 2027</a:t>
            </a:r>
            <a:endParaRPr lang="en-US" sz="1200" dirty="0"/>
          </a:p>
        </p:txBody>
      </p:sp>
      <p:sp>
        <p:nvSpPr>
          <p:cNvPr id="20" name="Text 16"/>
          <p:cNvSpPr/>
          <p:nvPr/>
        </p:nvSpPr>
        <p:spPr>
          <a:xfrm>
            <a:off x="6337300" y="2606430"/>
            <a:ext cx="234149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333"/>
                </a:solidFill>
                <a:latin typeface="Public Sans" pitchFamily="34" charset="0"/>
                <a:ea typeface="Public Sans" pitchFamily="34" charset="-122"/>
                <a:cs typeface="Public Sans" pitchFamily="34" charset="-120"/>
              </a:rPr>
              <a:t>Platform shortlist, scripted demos and weighted scoring</a:t>
            </a:r>
            <a:endParaRPr lang="en-US" sz="1200" dirty="0"/>
          </a:p>
        </p:txBody>
      </p:sp>
      <p:sp>
        <p:nvSpPr>
          <p:cNvPr id="21" name="Shape 17"/>
          <p:cNvSpPr/>
          <p:nvPr/>
        </p:nvSpPr>
        <p:spPr>
          <a:xfrm>
            <a:off x="8934450" y="1241311"/>
            <a:ext cx="2641600" cy="2402549"/>
          </a:xfrm>
          <a:prstGeom prst="roundRect">
            <a:avLst>
              <a:gd name="adj" fmla="val 3965"/>
            </a:avLst>
          </a:prstGeom>
          <a:solidFill>
            <a:srgbClr val="FFFFFF"/>
          </a:solidFill>
          <a:ln w="12700">
            <a:solidFill>
              <a:srgbClr val="DDE2EC"/>
            </a:solidFill>
            <a:prstDash val="solid"/>
          </a:ln>
        </p:spPr>
        <p:txBody>
          <a:bodyPr/>
          <a:lstStyle/>
          <a:p>
            <a:endParaRPr lang="en-IN"/>
          </a:p>
        </p:txBody>
      </p:sp>
      <p:sp>
        <p:nvSpPr>
          <p:cNvPr id="22" name="Text 18"/>
          <p:cNvSpPr/>
          <p:nvPr/>
        </p:nvSpPr>
        <p:spPr>
          <a:xfrm>
            <a:off x="9118600" y="1425461"/>
            <a:ext cx="805458" cy="289520"/>
          </a:xfrm>
          <a:custGeom>
            <a:avLst/>
            <a:gdLst/>
            <a:ahLst/>
            <a:cxnLst/>
            <a:rect l="l" t="t" r="r" b="b"/>
            <a:pathLst>
              <a:path w="805458" h="289520">
                <a:moveTo>
                  <a:pt x="144760" y="0"/>
                </a:moveTo>
                <a:lnTo>
                  <a:pt x="660698" y="0"/>
                </a:lnTo>
                <a:arcTo wR="144760" hR="144760" stAng="16200000" swAng="5400000"/>
                <a:lnTo>
                  <a:pt x="805458" y="144760"/>
                </a:lnTo>
                <a:arcTo wR="144760" hR="144760" stAng="0" swAng="5400000"/>
                <a:lnTo>
                  <a:pt x="144760" y="289520"/>
                </a:lnTo>
                <a:arcTo wR="144760" hR="144760" stAng="5400000" swAng="5400000"/>
                <a:lnTo>
                  <a:pt x="0" y="144760"/>
                </a:lnTo>
                <a:arcTo wR="144760" hR="144760" stAng="10800000" swAng="5400000"/>
                <a:close/>
              </a:path>
            </a:pathLst>
          </a:custGeom>
          <a:solidFill>
            <a:srgbClr val="D6232A"/>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Public Sans" pitchFamily="34" charset="0"/>
                <a:ea typeface="Public Sans" pitchFamily="34" charset="-122"/>
                <a:cs typeface="Public Sans" pitchFamily="34" charset="-120"/>
              </a:rPr>
              <a:t>Phase 4</a:t>
            </a:r>
            <a:endParaRPr lang="en-US" sz="1200" dirty="0"/>
          </a:p>
        </p:txBody>
      </p:sp>
      <p:sp>
        <p:nvSpPr>
          <p:cNvPr id="23" name="Text 19"/>
          <p:cNvSpPr/>
          <p:nvPr/>
        </p:nvSpPr>
        <p:spPr>
          <a:xfrm>
            <a:off x="9118600" y="1778481"/>
            <a:ext cx="2341499"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6B"/>
                </a:solidFill>
                <a:latin typeface="Public Sans" pitchFamily="34" charset="0"/>
                <a:ea typeface="Public Sans" pitchFamily="34" charset="-122"/>
                <a:cs typeface="Public Sans" pitchFamily="34" charset="-120"/>
              </a:rPr>
              <a:t>Executive roadmap</a:t>
            </a:r>
            <a:endParaRPr lang="en-US" sz="1600" dirty="0"/>
          </a:p>
        </p:txBody>
      </p:sp>
      <p:sp>
        <p:nvSpPr>
          <p:cNvPr id="24" name="Text 20"/>
          <p:cNvSpPr/>
          <p:nvPr/>
        </p:nvSpPr>
        <p:spPr>
          <a:xfrm>
            <a:off x="9118600" y="2085796"/>
            <a:ext cx="234149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66074"/>
                </a:solidFill>
                <a:latin typeface="Public Sans" pitchFamily="34" charset="0"/>
                <a:ea typeface="Public Sans" pitchFamily="34" charset="-122"/>
                <a:cs typeface="Public Sans" pitchFamily="34" charset="-120"/>
              </a:rPr>
              <a:t>5 – 13 Jan 2027</a:t>
            </a:r>
            <a:endParaRPr lang="en-US" sz="1200" dirty="0"/>
          </a:p>
        </p:txBody>
      </p:sp>
      <p:sp>
        <p:nvSpPr>
          <p:cNvPr id="25" name="Text 21"/>
          <p:cNvSpPr/>
          <p:nvPr/>
        </p:nvSpPr>
        <p:spPr>
          <a:xfrm>
            <a:off x="9118600" y="2362616"/>
            <a:ext cx="234149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333"/>
                </a:solidFill>
                <a:latin typeface="Public Sans" pitchFamily="34" charset="0"/>
                <a:ea typeface="Public Sans" pitchFamily="34" charset="-122"/>
                <a:cs typeface="Public Sans" pitchFamily="34" charset="-120"/>
              </a:rPr>
              <a:t>Implementation roadmap, budgetary estimate and risks; presentation 13 Jan</a:t>
            </a:r>
            <a:endParaRPr lang="en-US" sz="1200" dirty="0"/>
          </a:p>
        </p:txBody>
      </p:sp>
      <p:sp>
        <p:nvSpPr>
          <p:cNvPr id="26" name="Shape 22"/>
          <p:cNvSpPr/>
          <p:nvPr/>
        </p:nvSpPr>
        <p:spPr>
          <a:xfrm>
            <a:off x="615950" y="3913552"/>
            <a:ext cx="10960100" cy="1767681"/>
          </a:xfrm>
          <a:prstGeom prst="roundRect">
            <a:avLst>
              <a:gd name="adj" fmla="val 5388"/>
            </a:avLst>
          </a:prstGeom>
          <a:solidFill>
            <a:srgbClr val="FFFFFF"/>
          </a:solidFill>
          <a:ln w="12700">
            <a:solidFill>
              <a:srgbClr val="DDE2EC"/>
            </a:solidFill>
            <a:prstDash val="solid"/>
          </a:ln>
        </p:spPr>
        <p:txBody>
          <a:bodyPr/>
          <a:lstStyle/>
          <a:p>
            <a:endParaRPr lang="en-IN"/>
          </a:p>
        </p:txBody>
      </p:sp>
      <p:sp>
        <p:nvSpPr>
          <p:cNvPr id="27" name="Text 23"/>
          <p:cNvSpPr/>
          <p:nvPr/>
        </p:nvSpPr>
        <p:spPr>
          <a:xfrm>
            <a:off x="825500" y="4097702"/>
            <a:ext cx="1085723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B2E6B"/>
                </a:solidFill>
                <a:latin typeface="Public Sans" pitchFamily="34" charset="0"/>
                <a:ea typeface="Public Sans" pitchFamily="34" charset="-122"/>
                <a:cs typeface="Public Sans" pitchFamily="34" charset="-120"/>
              </a:rPr>
              <a:t>Immediate next steps, 30 Oct – 10 Nov</a:t>
            </a:r>
            <a:endParaRPr lang="en-US" sz="1700" dirty="0"/>
          </a:p>
        </p:txBody>
      </p:sp>
      <p:sp>
        <p:nvSpPr>
          <p:cNvPr id="28" name="Text 24"/>
          <p:cNvSpPr/>
          <p:nvPr/>
        </p:nvSpPr>
        <p:spPr>
          <a:xfrm>
            <a:off x="825500" y="4458328"/>
            <a:ext cx="3479546"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6232A"/>
                </a:solidFill>
                <a:latin typeface="Public Sans" pitchFamily="34" charset="0"/>
                <a:ea typeface="Public Sans" pitchFamily="34" charset="-122"/>
                <a:cs typeface="Public Sans" pitchFamily="34" charset="-120"/>
              </a:rPr>
              <a:t>1</a:t>
            </a:r>
            <a:endParaRPr lang="en-US" sz="2200" dirty="0"/>
          </a:p>
        </p:txBody>
      </p:sp>
      <p:sp>
        <p:nvSpPr>
          <p:cNvPr id="29" name="Text 25"/>
          <p:cNvSpPr/>
          <p:nvPr/>
        </p:nvSpPr>
        <p:spPr>
          <a:xfrm>
            <a:off x="825500" y="4803742"/>
            <a:ext cx="3479546"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333"/>
                </a:solidFill>
                <a:latin typeface="Public Sans" pitchFamily="34" charset="0"/>
                <a:ea typeface="Public Sans" pitchFamily="34" charset="-122"/>
                <a:cs typeface="Public Sans" pitchFamily="34" charset="-120"/>
              </a:rPr>
              <a:t>Study in detail the processes and templates shared by APC users: vendor request form, NC/CAR, audit, KPI and DOA</a:t>
            </a:r>
            <a:endParaRPr lang="en-US" sz="1300" dirty="0"/>
          </a:p>
        </p:txBody>
      </p:sp>
      <p:sp>
        <p:nvSpPr>
          <p:cNvPr id="30" name="Text 26"/>
          <p:cNvSpPr/>
          <p:nvPr/>
        </p:nvSpPr>
        <p:spPr>
          <a:xfrm>
            <a:off x="4568270" y="4458328"/>
            <a:ext cx="3479546"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6232A"/>
                </a:solidFill>
                <a:latin typeface="Public Sans" pitchFamily="34" charset="0"/>
                <a:ea typeface="Public Sans" pitchFamily="34" charset="-122"/>
                <a:cs typeface="Public Sans" pitchFamily="34" charset="-120"/>
              </a:rPr>
              <a:t>2</a:t>
            </a:r>
            <a:endParaRPr lang="en-US" sz="2200" dirty="0"/>
          </a:p>
        </p:txBody>
      </p:sp>
      <p:sp>
        <p:nvSpPr>
          <p:cNvPr id="31" name="Text 27"/>
          <p:cNvSpPr/>
          <p:nvPr/>
        </p:nvSpPr>
        <p:spPr>
          <a:xfrm>
            <a:off x="4568270" y="4803742"/>
            <a:ext cx="3479546" cy="718741"/>
          </a:xfrm>
          <a:prstGeom prst="rect">
            <a:avLst/>
          </a:prstGeom>
          <a:noFill/>
          <a:ln/>
        </p:spPr>
        <p:txBody>
          <a:bodyPr wrap="square" lIns="0" tIns="0" rIns="0" bIns="0" rtlCol="0" anchor="t">
            <a:normAutofit/>
          </a:bodyPr>
          <a:lstStyle/>
          <a:p>
            <a:pPr>
              <a:lnSpc>
                <a:spcPts val="1820"/>
              </a:lnSpc>
            </a:pPr>
            <a:r>
              <a:rPr lang="en-US" sz="1300" dirty="0">
                <a:solidFill>
                  <a:srgbClr val="1B2333"/>
                </a:solidFill>
                <a:latin typeface="Public Sans" pitchFamily="34" charset="0"/>
                <a:ea typeface="Public Sans" pitchFamily="34" charset="-122"/>
                <a:cs typeface="Public Sans" pitchFamily="34" charset="-120"/>
              </a:rPr>
              <a:t>Coordinate with APC users for any clarifications to complete the Requirement Register</a:t>
            </a:r>
            <a:endParaRPr lang="en-US" sz="1300" dirty="0"/>
          </a:p>
        </p:txBody>
      </p:sp>
      <p:sp>
        <p:nvSpPr>
          <p:cNvPr id="32" name="Text 28"/>
          <p:cNvSpPr/>
          <p:nvPr/>
        </p:nvSpPr>
        <p:spPr>
          <a:xfrm>
            <a:off x="7988300" y="4458328"/>
            <a:ext cx="3479546"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6232A"/>
                </a:solidFill>
                <a:latin typeface="Public Sans" pitchFamily="34" charset="0"/>
                <a:ea typeface="Public Sans" pitchFamily="34" charset="-122"/>
                <a:cs typeface="Public Sans" pitchFamily="34" charset="-120"/>
              </a:rPr>
              <a:t>3</a:t>
            </a:r>
            <a:endParaRPr lang="en-US" sz="2200" dirty="0"/>
          </a:p>
        </p:txBody>
      </p:sp>
      <p:sp>
        <p:nvSpPr>
          <p:cNvPr id="33" name="Text 29"/>
          <p:cNvSpPr/>
          <p:nvPr/>
        </p:nvSpPr>
        <p:spPr>
          <a:xfrm>
            <a:off x="7988300" y="4803742"/>
            <a:ext cx="3479546" cy="7187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333"/>
                </a:solidFill>
                <a:latin typeface="Public Sans" pitchFamily="34" charset="0"/>
                <a:ea typeface="Public Sans" pitchFamily="34" charset="-122"/>
                <a:cs typeface="Public Sans" pitchFamily="34" charset="-120"/>
              </a:rPr>
              <a:t>Discuss with APC Management on key decisions that might impact the Future state system landscape</a:t>
            </a:r>
            <a:endParaRPr lang="en-US" sz="1300" dirty="0"/>
          </a:p>
        </p:txBody>
      </p:sp>
      <p:sp>
        <p:nvSpPr>
          <p:cNvPr id="34" name="Text 30"/>
          <p:cNvSpPr/>
          <p:nvPr/>
        </p:nvSpPr>
        <p:spPr>
          <a:xfrm>
            <a:off x="609600" y="63906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74"/>
                </a:solidFill>
                <a:latin typeface="Public Sans" pitchFamily="34" charset="0"/>
                <a:ea typeface="Public Sans" pitchFamily="34" charset="-122"/>
                <a:cs typeface="Public Sans" pitchFamily="34" charset="-120"/>
              </a:rPr>
              <a:t>BEACON · SteerCo Update · 30 Oct 2026</a:t>
            </a:r>
            <a:endParaRPr lang="en-US" sz="1200" dirty="0"/>
          </a:p>
        </p:txBody>
      </p:sp>
      <p:sp>
        <p:nvSpPr>
          <p:cNvPr id="35" name="Text 31"/>
          <p:cNvSpPr/>
          <p:nvPr/>
        </p:nvSpPr>
        <p:spPr>
          <a:xfrm>
            <a:off x="10769600"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66074"/>
                </a:solidFill>
                <a:latin typeface="Public Sans" pitchFamily="34" charset="0"/>
                <a:ea typeface="Public Sans" pitchFamily="34" charset="-122"/>
                <a:cs typeface="Public Sans" pitchFamily="34" charset="-120"/>
              </a:rPr>
              <a:t>9</a:t>
            </a:r>
            <a:endParaRPr lang="en-US" sz="1200" dirty="0"/>
          </a:p>
        </p:txBody>
      </p:sp>
      <p:pic>
        <p:nvPicPr>
          <p:cNvPr id="37" name="Picture 36" descr="Durvah Logo Brand New.jpg">
            <a:extLst>
              <a:ext uri="{FF2B5EF4-FFF2-40B4-BE49-F238E27FC236}">
                <a16:creationId xmlns:a16="http://schemas.microsoft.com/office/drawing/2014/main" id="{CC3CC161-35E1-6583-DD99-6FB5BECAE4EF}"/>
              </a:ext>
            </a:extLst>
          </p:cNvPr>
          <p:cNvPicPr>
            <a:picLocks noChangeAspect="1"/>
          </p:cNvPicPr>
          <p:nvPr/>
        </p:nvPicPr>
        <p:blipFill>
          <a:blip r:embed="rId4"/>
          <a:stretch>
            <a:fillRect/>
          </a:stretch>
        </p:blipFill>
        <p:spPr>
          <a:xfrm>
            <a:off x="10363201" y="228600"/>
            <a:ext cx="1147482" cy="4509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5D68-6D1C-A9F6-5B74-BEAA85237FBE}"/>
            </a:ext>
          </a:extLst>
        </p:cNvPr>
        <p:cNvGrpSpPr/>
        <p:nvPr/>
      </p:nvGrpSpPr>
      <p:grpSpPr>
        <a:xfrm>
          <a:off x="0" y="0"/>
          <a:ext cx="0" cy="0"/>
          <a:chOff x="0" y="0"/>
          <a:chExt cx="0" cy="0"/>
        </a:xfrm>
      </p:grpSpPr>
      <p:pic>
        <p:nvPicPr>
          <p:cNvPr id="2" name="Image 0" descr="Ajinomoto logo">
            <a:extLst>
              <a:ext uri="{FF2B5EF4-FFF2-40B4-BE49-F238E27FC236}">
                <a16:creationId xmlns:a16="http://schemas.microsoft.com/office/drawing/2014/main" id="{1259D0CE-E4D8-CED1-C694-82E016B6D391}"/>
              </a:ext>
            </a:extLst>
          </p:cNvPr>
          <p:cNvPicPr>
            <a:picLocks noChangeAspect="1"/>
          </p:cNvPicPr>
          <p:nvPr/>
        </p:nvPicPr>
        <p:blipFill>
          <a:blip r:embed="rId3"/>
          <a:srcRect l="-26" r="-26"/>
          <a:stretch/>
        </p:blipFill>
        <p:spPr>
          <a:xfrm>
            <a:off x="747062" y="254000"/>
            <a:ext cx="660400" cy="463550"/>
          </a:xfrm>
          <a:prstGeom prst="rect">
            <a:avLst/>
          </a:prstGeom>
        </p:spPr>
      </p:pic>
      <p:sp>
        <p:nvSpPr>
          <p:cNvPr id="5" name="Text 1">
            <a:extLst>
              <a:ext uri="{FF2B5EF4-FFF2-40B4-BE49-F238E27FC236}">
                <a16:creationId xmlns:a16="http://schemas.microsoft.com/office/drawing/2014/main" id="{6F6B59B0-7089-7DBB-142D-814594127202}"/>
              </a:ext>
            </a:extLst>
          </p:cNvPr>
          <p:cNvSpPr>
            <a:spLocks noGrp="1"/>
          </p:cNvSpPr>
          <p:nvPr>
            <p:ph type="title"/>
          </p:nvPr>
        </p:nvSpPr>
        <p:spPr>
          <a:xfrm>
            <a:off x="4276164" y="2976282"/>
            <a:ext cx="3227294" cy="905435"/>
          </a:xfrm>
          <a:prstGeom prst="rect">
            <a:avLst/>
          </a:prstGeom>
          <a:noFill/>
          <a:ln/>
        </p:spPr>
        <p:txBody>
          <a:bodyPr wrap="square" lIns="0" tIns="0" rIns="0" bIns="0" rtlCol="0" anchor="t">
            <a:normAutofit/>
          </a:bodyPr>
          <a:lstStyle/>
          <a:p>
            <a:pPr marL="0" indent="0" algn="l">
              <a:lnSpc>
                <a:spcPts val="3080"/>
              </a:lnSpc>
              <a:buNone/>
            </a:pPr>
            <a:r>
              <a:rPr lang="en-US" sz="4000" b="1" i="0" dirty="0">
                <a:solidFill>
                  <a:srgbClr val="0B2E6B"/>
                </a:solidFill>
                <a:latin typeface="Public Sans" pitchFamily="34" charset="0"/>
                <a:ea typeface="Public Sans" pitchFamily="34" charset="-122"/>
                <a:cs typeface="Public Sans" pitchFamily="34" charset="-120"/>
              </a:rPr>
              <a:t>THANK YOU</a:t>
            </a:r>
            <a:endParaRPr lang="en-US" sz="4000" dirty="0"/>
          </a:p>
        </p:txBody>
      </p:sp>
      <p:pic>
        <p:nvPicPr>
          <p:cNvPr id="37" name="Picture 36" descr="Durvah Logo Brand New.jpg">
            <a:extLst>
              <a:ext uri="{FF2B5EF4-FFF2-40B4-BE49-F238E27FC236}">
                <a16:creationId xmlns:a16="http://schemas.microsoft.com/office/drawing/2014/main" id="{4863C944-BAB0-2BE6-E941-6D1FB6C8550E}"/>
              </a:ext>
            </a:extLst>
          </p:cNvPr>
          <p:cNvPicPr>
            <a:picLocks noChangeAspect="1"/>
          </p:cNvPicPr>
          <p:nvPr/>
        </p:nvPicPr>
        <p:blipFill>
          <a:blip r:embed="rId4"/>
          <a:stretch>
            <a:fillRect/>
          </a:stretch>
        </p:blipFill>
        <p:spPr>
          <a:xfrm>
            <a:off x="10363201" y="228600"/>
            <a:ext cx="1147482" cy="450917"/>
          </a:xfrm>
          <a:prstGeom prst="rect">
            <a:avLst/>
          </a:prstGeom>
        </p:spPr>
      </p:pic>
    </p:spTree>
    <p:extLst>
      <p:ext uri="{BB962C8B-B14F-4D97-AF65-F5344CB8AC3E}">
        <p14:creationId xmlns:p14="http://schemas.microsoft.com/office/powerpoint/2010/main" val="3326831075"/>
      </p:ext>
    </p:extLst>
  </p:cSld>
  <p:clrMapOvr>
    <a:masterClrMapping/>
  </p:clrMapOvr>
</p:sld>
</file>

<file path=ppt/theme/theme1.xml><?xml version="1.0" encoding="utf-8"?>
<a:theme xmlns:a="http://schemas.openxmlformats.org/drawingml/2006/main" name="BEACON SteerCo Update">
  <a:themeElements>
    <a:clrScheme name="BEACON SteerCo Update">
      <a:dk1>
        <a:srgbClr val="0B2E6B"/>
      </a:dk1>
      <a:lt1>
        <a:srgbClr val="F6F7FA"/>
      </a:lt1>
      <a:dk2>
        <a:srgbClr val="46608F"/>
      </a:dk2>
      <a:lt2>
        <a:srgbClr val="DFE3EC"/>
      </a:lt2>
      <a:accent1>
        <a:srgbClr val="D6232A"/>
      </a:accent1>
      <a:accent2>
        <a:srgbClr val="BFD3F2"/>
      </a:accent2>
      <a:accent3>
        <a:srgbClr val="1B2333"/>
      </a:accent3>
      <a:accent4>
        <a:srgbClr val="566074"/>
      </a:accent4>
      <a:accent5>
        <a:srgbClr val="9AA0A6"/>
      </a:accent5>
      <a:accent6>
        <a:srgbClr val="697EA4"/>
      </a:accent6>
      <a:hlink>
        <a:srgbClr val="0563C1"/>
      </a:hlink>
      <a:folHlink>
        <a:srgbClr val="954F72"/>
      </a:folHlink>
    </a:clrScheme>
    <a:fontScheme name="BEACON SteerCo Update">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2386</Words>
  <Application>Microsoft Office PowerPoint</Application>
  <PresentationFormat>Widescreen</PresentationFormat>
  <Paragraphs>247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Public Sans</vt:lpstr>
      <vt:lpstr>Caladea</vt:lpstr>
      <vt:lpstr>Carlito</vt:lpstr>
      <vt:lpstr>Arial</vt:lpstr>
      <vt:lpstr>BEACON SteerCo Update</vt:lpstr>
      <vt:lpstr>BEACON</vt:lpstr>
      <vt:lpstr>Discovery coverage</vt:lpstr>
      <vt:lpstr>Discovery coverage in numbers</vt:lpstr>
      <vt:lpstr>System Process View</vt:lpstr>
      <vt:lpstr>Scope discussed: 10 domains, 87 features</vt:lpstr>
      <vt:lpstr>People, Process, Technology</vt:lpstr>
      <vt:lpstr>Existing systems are not fully utilised</vt:lpstr>
      <vt:lpstr>Pre-Requisite for Procurement platform</vt:lpstr>
      <vt:lpstr>From discovery to conceptual design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BEACON SteerCo Update</dc:title>
  <dc:subject/>
  <dc:creator>DurvahIT-167</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dc:description>
  <cp:lastModifiedBy>Durvah IT Consulting Pvt Ltd.,</cp:lastModifiedBy>
  <cp:revision>8</cp:revision>
  <dcterms:created xsi:type="dcterms:W3CDTF">2026-10-29T11:48:41Z</dcterms:created>
  <dcterms:modified xsi:type="dcterms:W3CDTF">2026-10-30T02:01:51Z</dcterms:modified>
</cp:coreProperties>
</file>